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赛事链把校园参与拆成多个可以复核的对象。页面提示只是入口，不是最终证据。教师可以先看学生操作，再用对象编号读取结果，最后重放原请求，确认没有重复扣款或重复发奖。今天的演示沿积分、预测、票务和徽章展开。我们使用现有三组织账本，没有清空历史。每页下方给出证据文件，区分真实写入、读回和模拟界面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传统页面通常只给一个成功提示，但不同角色可能对资格、抽签或奖励产生争议。这里把输入承诺、抽签结果、票据状态和奖励回执分开保存。一个编号对应一个可读回对象，同一请求重放不应制造第二份权益。区块链不能证明线下身份绝对真实，但能让已提交输入和状态变化留下共同依据。观察证据时，要同时核对提交角色、对象编号和时间，而不是只看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负责申请、领票和查看本人权益；验证者先承诺随机种子；组织者在截止后揭示种子并抽签；运营员处理现场核销；管理员配置课程基线和徽章系列。权限不仅依赖前端按钮，也由后端中间件和链码证书身份检查。隐藏按钮不能代替权限校验。这里的组织者、验证者和运营员职责必须分开解释，管理员权限也不能被当作普通学生的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和 B paid 的兑换有对应储备关系。B bonus 来自签到或补偿，不是 B paid 的下一次兑换，也不能兑回现金。真实钱包操作投入一个 A，羽毛球 B paid 从二十增加到二十一，A 相应减少一个。余额读回必须与交易回执一起看。徽章领取不应改变这些余额。课堂展示的是封闭积分制度，不是代币融资或面向现金交易的产品。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在独立市场投入十个奖励积分，选择主队胜。接口返回仓位交易回执，钱包可用奖励积分减少十个。新增的本人仓位查询从证书中取得账户，不接受请求指定他人账户。公开快照不等于个人精确仓位。我们用原幂等键重放同一请求，返回原交易编号且余额不变。这一结果证明请求没有重复扣款，但不意味着所有结算和争议路径都在本次录像中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验证者先提交种子的哈希，学生在报名窗口内申请。截止以后，组织者揭示原种子，链码核对承诺并运行抽签。学生读取自己的中签或未中签状态。当前 browser-draw-1789058855266 活动容量为一，学生申请后读到已中签。申请、领票和票据读回证据分别标注，不把不同活动录像拼成同一闭环。承诺输入可复算，但不代表绝对公平；种子来源、角色独立性和线下资格仍需治理。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学生在票务大厅申请并领取中签票据。二维码使用票据编号、动态证明和时间片，不发送原始秘密。HMAC 的密钥来自 claimHash，页面跨三十秒时间片重新生成证明。本次真实测试发现过时钟更新但证明不更新的问题，现已修复。截图不是永久通行证。二维码和完整票据数据不应公开传播，课堂视频也要检查是否暴露未脱敏信息。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营员使用上传二维码截图的备用方式核验，本次并未验证摄像头路径。真实核销返回成功回执，但学生达到当天奖励上限，因此界面明确显示本次未发放奖励。再次提交同一二维码返回四百零九，原核销编号和时间保持不变。奖励待确认需要单独展示，不能冒充已到账。没有关联徽章的活动也应正常核销，空资格列表现在会被明确序列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徽章根据有效签到形成领取资格，在窗口内免费领取。系列激活后发行上限固定，实例编号单调递增。真实验收对两个学生在领取前、领取后和重试后比较完整钱包及所有市场本人仓位，摘要完全一致。公开证据只保存摘要，不保存完整私有数据。重复领取返回同一实例，不能突破发行上限。徽章没有现金价值，页面不提供交易或兑换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前端 Vue 展示角色对应操作，Express 负责认证和接口编排，Fabric 的 finance 与 activity 链码执行状态转换。MSP 表示组织身份，私有数据集合限制组织间的数据分发。组织成员仍可能拥有运维级访问能力，因此不能把组织级隐私说成绝对匿名。当前财务链码版本为 review 三，活动链码为 review 八；这是有时间点的验收记录，不是不可变化的永久版本。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先确认提交接口返回的状态和交易编号，再按对象编号查询当前结果，最后用相同幂等键重放并检查状态不变。三步不能互相替代：绿色 readiness 只证明服务能力探测，截图只证明当时页面显示，模拟 API 测试只证明界面逻辑。真实预测验收保留了交易、仓位读回和重放结果；徽章还比较领取前后的财务状态。所有证据应记录时间并脱敏。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提供共同状态和可复核回执，但不替代课程管理、线下身份核验与运营治理。本次视频不覆盖七天成熟等待、完整挑战仲裁以及摄像头扫描，不能从局部成功推出所有功能完成。课堂结论应聚焦已经验证的积分、预测、票务和徽章证据。最终交付仍要对照原计划逐项检查，明确历史结果、当前结果和未覆盖边界，避免用静态页面替代真实业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现场先检查前后端地址和 readiness，再登录学生展示钱包与预测。随后按验证者承诺、学生申请、组织者揭示抽签、学生领票、运营员核销的顺序推进。管理员账号 admin01 用于配置，不公开密码。所有登录密码通过课程管理渠道提供，不写进幻灯片。演示前检查市场和活动时间窗口；若窗口已结束，应建立独立演示对象，不倒改时间或清空账本。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人问是否可以兑现金，要回答这是封闭积分，徽章也没有现金价值。有人问抽签是否绝对公平，要区分已承诺输入的可复算性与种子、资格治理。有人问重复请求是否再扣款或发奖，可以展示相同编号和财务不变证据。有人问所有组织是否看不到数据，要说明私有集合是组织级分发边界。回答应指向具体证据文件，不使用绝对安全、绝对匿名等超过证据的表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75A8"/>
                </a:solidFill>
                <a:latin typeface="Heiti SC"/>
              </a:defRPr>
            </a:pPr>
            <a:r>
              <a:t>01 / 项目定位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354C"/>
                </a:solidFill>
                <a:latin typeface="Heiti SC"/>
              </a:defRPr>
            </a:pPr>
            <a:r>
              <a:t>参与过程可复核，不只显示成功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封闭积分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预测仓位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9944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票务核销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17736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7464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7464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赛季徽章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5262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8354C"/>
                </a:solidFill>
                <a:latin typeface="Heiti SC"/>
              </a:defRPr>
            </a:pPr>
            <a:r>
              <a:t>验证方式：操作角色、对象编号与状态共同核对；不以页面成功提示替代链上证据。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86477"/>
                </a:solidFill>
                <a:latin typeface="Heiti SC"/>
              </a:defRPr>
            </a:pPr>
            <a:r>
              <a:t>证据：evidence-2026-09-10/prediction-replay.json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75A8"/>
                </a:solidFill>
                <a:latin typeface="Heiti SC"/>
              </a:defRPr>
            </a:pPr>
            <a:r>
              <a:t>02 / 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354C"/>
                </a:solidFill>
                <a:latin typeface="Heiti SC"/>
              </a:defRPr>
            </a:pPr>
            <a:r>
              <a:t>资格、抽签和奖励需要共享证据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输入不透明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结果难复算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9944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重复核销风险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17736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7464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7464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共同回执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5262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8354C"/>
                </a:solidFill>
                <a:latin typeface="Heiti SC"/>
              </a:defRPr>
            </a:pPr>
            <a:r>
              <a:t>验证方式：操作角色、对象编号与状态共同核对；不以页面成功提示替代链上证据。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86477"/>
                </a:solidFill>
                <a:latin typeface="Heiti SC"/>
              </a:defRPr>
            </a:pPr>
            <a:r>
              <a:t>证据：evidence-2026-09-11/draw-current-student-readback.json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75A8"/>
                </a:solidFill>
                <a:latin typeface="Heiti SC"/>
              </a:defRPr>
            </a:pPr>
            <a:r>
              <a:t>03 / 角色地图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354C"/>
                </a:solidFill>
                <a:latin typeface="Heiti SC"/>
              </a:defRPr>
            </a:pPr>
            <a:r>
              <a:t>角色分工避免单方完成全部步骤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student 申请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verifier 承诺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9944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organizer 抽签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7736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27464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7464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operator 核销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51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354C"/>
                </a:solidFill>
                <a:latin typeface="Heiti SC"/>
              </a:defRPr>
            </a:pPr>
            <a:r>
              <a:t>admin 管理员：配置课程基线、权限与徽章系列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892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8354C"/>
                </a:solidFill>
                <a:latin typeface="Heiti SC"/>
              </a:defRPr>
            </a:pPr>
            <a:r>
              <a:t>五类角色共同参与；前端提示、后端鉴权与链码证书校验相互配合。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86477"/>
                </a:solidFill>
                <a:latin typeface="Heiti SC"/>
              </a:defRPr>
            </a:pPr>
            <a:r>
              <a:t>证据：evidence-2026-09-10/ticket-application-receipt.json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75A8"/>
                </a:solidFill>
                <a:latin typeface="Heiti SC"/>
              </a:defRPr>
            </a:pPr>
            <a:r>
              <a:t>04 / 积分系统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354C"/>
                </a:solidFill>
                <a:latin typeface="Heiti SC"/>
              </a:defRPr>
            </a:pPr>
            <a:r>
              <a:t>A 可兑换 B_paid，奖励积分独立发放</a:t>
            </a:r>
          </a:p>
        </p:txBody>
      </p:sp>
      <p:pic>
        <p:nvPicPr>
          <p:cNvPr id="4" name="Picture 3" descr="wallet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74519"/>
            <a:ext cx="5303520" cy="3977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63640" y="219456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8354C"/>
                </a:solidFill>
                <a:latin typeface="Heiti SC"/>
              </a:defRPr>
            </a:pPr>
            <a:r>
              <a:t>真实兑换 1 A → 1 B_paid</a:t>
            </a:r>
          </a:p>
          <a:p>
            <a:pPr>
              <a:defRPr sz="2100" b="0">
                <a:solidFill>
                  <a:srgbClr val="18354C"/>
                </a:solidFill>
                <a:latin typeface="Heiti SC"/>
              </a:defRPr>
            </a:pPr>
            <a:r>
              <a:t>A：975.999999 → 974.999999</a:t>
            </a:r>
          </a:p>
          <a:p>
            <a:pPr>
              <a:defRPr sz="2100" b="0">
                <a:solidFill>
                  <a:srgbClr val="18354C"/>
                </a:solidFill>
                <a:latin typeface="Heiti SC"/>
              </a:defRPr>
            </a:pPr>
            <a:r>
              <a:t>羽毛球 B_paid：20 → 21</a:t>
            </a:r>
          </a:p>
          <a:p>
            <a:pPr>
              <a:defRPr sz="2100" b="0">
                <a:solidFill>
                  <a:srgbClr val="18354C"/>
                </a:solidFill>
                <a:latin typeface="Heiti SC"/>
              </a:defRPr>
            </a:pPr>
            <a:r>
              <a:t>截图为操作前余额</a:t>
            </a:r>
          </a:p>
          <a:p>
            <a:pPr>
              <a:defRPr sz="2100" b="0">
                <a:solidFill>
                  <a:srgbClr val="18354C"/>
                </a:solidFill>
                <a:latin typeface="Heiti SC"/>
              </a:defRPr>
            </a:pPr>
            <a:r>
              <a:t>B_bonus 不参与兑换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86477"/>
                </a:solidFill>
                <a:latin typeface="Heiti SC"/>
              </a:defRPr>
            </a:pPr>
            <a:r>
              <a:t>证据：evidence-2026-09-10/wallet-after-convert.txt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75A8"/>
                </a:solidFill>
                <a:latin typeface="Heiti SC"/>
              </a:defRPr>
            </a:pPr>
            <a:r>
              <a:t>05 / 预测市场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354C"/>
                </a:solidFill>
                <a:latin typeface="Heiti SC"/>
              </a:defRPr>
            </a:pPr>
            <a:r>
              <a:t>公开快照与本人仓位分开读取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公开延迟快照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B_bonus 投入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9944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私有仓位 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17736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7464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7464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本人证书读回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5262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8354C"/>
                </a:solidFill>
                <a:latin typeface="Heiti SC"/>
              </a:defRPr>
            </a:pPr>
            <a:r>
              <a:t>验证方式：操作角色、对象编号与状态共同核对；不以页面成功提示替代链上证据。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86477"/>
                </a:solidFill>
                <a:latin typeface="Heiti SC"/>
              </a:defRPr>
            </a:pPr>
            <a:r>
              <a:t>证据：evidence-2026-09-10/prediction-readback.json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75A8"/>
                </a:solidFill>
                <a:latin typeface="Heiti SC"/>
              </a:defRPr>
            </a:pPr>
            <a:r>
              <a:t>06 / 承诺—揭示抽签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354C"/>
                </a:solidFill>
                <a:latin typeface="Heiti SC"/>
              </a:defRPr>
            </a:pPr>
            <a:r>
              <a:t>先承诺输入，再揭示并读回结果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verifier: H(seed)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学生申请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9944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截止后 reveal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17736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7464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7464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本人 WON/LOST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5262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8354C"/>
                </a:solidFill>
                <a:latin typeface="Heiti SC"/>
              </a:defRPr>
            </a:pPr>
            <a:r>
              <a:t>验证方式：操作角色、对象编号与状态共同核对；不以页面成功提示替代链上证据。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86477"/>
                </a:solidFill>
                <a:latin typeface="Heiti SC"/>
              </a:defRPr>
            </a:pPr>
            <a:r>
              <a:t>证据：evidence-2026-09-11/draw-current-student-readback.json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75A8"/>
                </a:solidFill>
                <a:latin typeface="Heiti SC"/>
              </a:defRPr>
            </a:pPr>
            <a:r>
              <a:t>07 / 票务大厅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354C"/>
                </a:solidFill>
                <a:latin typeface="Heiti SC"/>
              </a:defRPr>
            </a:pPr>
            <a:r>
              <a:t>票据秘密不应出现在动态二维码里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申请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中签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9944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领取票据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17736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7464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7464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HMAC 时间片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5262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8354C"/>
                </a:solidFill>
                <a:latin typeface="Heiti SC"/>
              </a:defRPr>
            </a:pPr>
            <a:r>
              <a:t>验证方式：操作角色、对象编号与状态共同核对；不以页面成功提示替代链上证据。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86477"/>
                </a:solidFill>
                <a:latin typeface="Heiti SC"/>
              </a:defRPr>
            </a:pPr>
            <a:r>
              <a:t>证据：evidence-2026-09-11/draw-ticket-readback.webm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75A8"/>
                </a:solidFill>
                <a:latin typeface="Heiti SC"/>
              </a:defRPr>
            </a:pPr>
            <a:r>
              <a:t>08 / 签到奖励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354C"/>
                </a:solidFill>
                <a:latin typeface="Heiti SC"/>
              </a:defRPr>
            </a:pPr>
            <a:r>
              <a:t>核销成功不代表本次一定发奖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200 核销成功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GRANTED 已发放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9944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LIMIT 未发放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7736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27464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7464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409 重放拒绝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262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8354C"/>
                </a:solidFill>
                <a:latin typeface="Heiti SC"/>
              </a:defRPr>
            </a:pPr>
            <a:r>
              <a:t>验证方式：操作角色、对象编号与状态共同核对；不以页面成功提示替代链上证据。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86477"/>
                </a:solidFill>
                <a:latin typeface="Heiti SC"/>
              </a:defRPr>
            </a:pPr>
            <a:r>
              <a:t>证据：evidence-2026-09-10/checkin-browser-receipt.json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75A8"/>
                </a:solidFill>
                <a:latin typeface="Heiti SC"/>
              </a:defRPr>
            </a:pPr>
            <a:r>
              <a:t>09 / 赛季徽章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354C"/>
                </a:solidFill>
                <a:latin typeface="Heiti SC"/>
              </a:defRPr>
            </a:pPr>
            <a:r>
              <a:t>徽章是纪念凭证，不改变积分与仓位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免费领取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固定 maxSupply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9944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No. 0001 /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7736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27464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7464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不可交易兑换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262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8354C"/>
                </a:solidFill>
                <a:latin typeface="Heiti SC"/>
              </a:defRPr>
            </a:pPr>
            <a:r>
              <a:t>验证方式：操作角色、对象编号与状态共同核对；不以页面成功提示替代链上证据。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86477"/>
                </a:solidFill>
                <a:latin typeface="Heiti SC"/>
              </a:defRPr>
            </a:pPr>
            <a:r>
              <a:t>证据：evidence-2026-09-10/badge-financial-invariants.json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75A8"/>
                </a:solidFill>
                <a:latin typeface="Heiti SC"/>
              </a:defRPr>
            </a:pPr>
            <a:r>
              <a:t>10 / 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354C"/>
                </a:solidFill>
                <a:latin typeface="Heiti SC"/>
              </a:defRPr>
            </a:pPr>
            <a:r>
              <a:t>隐私边界是组织级，不是绝对匿名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Vue 浏览器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Express 身份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9944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Fabric 双链码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17736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7464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7464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MSP + PDC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5262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8354C"/>
                </a:solidFill>
                <a:latin typeface="Heiti SC"/>
              </a:defRPr>
            </a:pPr>
            <a:r>
              <a:t>验证方式：操作角色、对象编号与状态共同核对；不以页面成功提示替代链上证据。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86477"/>
                </a:solidFill>
                <a:latin typeface="Heiti SC"/>
              </a:defRPr>
            </a:pPr>
            <a:r>
              <a:t>证据：evidence-2026-09-10/activity-committed-latest.json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75A8"/>
                </a:solidFill>
                <a:latin typeface="Heiti SC"/>
              </a:defRPr>
            </a:pPr>
            <a:r>
              <a:t>11 / 证据梯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354C"/>
                </a:solidFill>
                <a:latin typeface="Heiti SC"/>
              </a:defRPr>
            </a:pPr>
            <a:r>
              <a:t>写入、读回、重放是三类独立证据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提交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交易回执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9944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对象 ID 读回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17736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7464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7464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原键重放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5262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8354C"/>
                </a:solidFill>
                <a:latin typeface="Heiti SC"/>
              </a:defRPr>
            </a:pPr>
            <a:r>
              <a:t>验证方式：操作角色、对象编号与状态共同核对；不以页面成功提示替代链上证据。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86477"/>
                </a:solidFill>
                <a:latin typeface="Heiti SC"/>
              </a:defRPr>
            </a:pPr>
            <a:r>
              <a:t>证据：evidence-2026-09-10/prediction-replay.json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75A8"/>
                </a:solidFill>
                <a:latin typeface="Heiti SC"/>
              </a:defRPr>
            </a:pPr>
            <a:r>
              <a:t>12 / 边界与结论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354C"/>
                </a:solidFill>
                <a:latin typeface="Heiti SC"/>
              </a:defRPr>
            </a:pPr>
            <a:r>
              <a:t>账本约束明确，但线下治理仍然必要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封闭积分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组织级隐私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9944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非绝对公平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7736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27464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7464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未覆盖项明示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262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8354C"/>
                </a:solidFill>
                <a:latin typeface="Heiti SC"/>
              </a:defRPr>
            </a:pPr>
            <a:r>
              <a:t>验证方式：操作角色、对象编号与状态共同核对；不以页面成功提示替代链上证据。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86477"/>
                </a:solidFill>
                <a:latin typeface="Heiti SC"/>
              </a:defRPr>
            </a:pPr>
            <a:r>
              <a:t>证据：evidence-2026-09-10/plan-audit.md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75A8"/>
                </a:solidFill>
                <a:latin typeface="Heiti SC"/>
              </a:defRPr>
            </a:pPr>
            <a:r>
              <a:t>13 / 附录：操作顺序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354C"/>
                </a:solidFill>
                <a:latin typeface="Heiti SC"/>
              </a:defRPr>
            </a:pPr>
            <a:r>
              <a:t>现场按角色顺序操作，不重置账本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student</a:t>
            </a:r>
          </a:p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student-demo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verifier</a:t>
            </a:r>
          </a:p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verifier01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9944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organizer</a:t>
            </a:r>
          </a:p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organizer01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90779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475A8"/>
                </a:solidFill>
                <a:latin typeface="Heiti SC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17736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7464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7464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operator</a:t>
            </a:r>
          </a:p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operator01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5262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8354C"/>
                </a:solidFill>
                <a:latin typeface="Heiti SC"/>
              </a:defRPr>
            </a:pPr>
            <a:r>
              <a:t>student-demo 为脱敏展示别名，不是登录账号。真实账号由课程管理渠道提供；勿使用本页别名登录。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86477"/>
                </a:solidFill>
                <a:latin typeface="Heiti SC"/>
              </a:defRPr>
            </a:pPr>
            <a:r>
              <a:t>证据：evidence-2026-09-10/ticket-network-status.txt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75A8"/>
                </a:solidFill>
                <a:latin typeface="Heiti SC"/>
              </a:defRPr>
            </a:pPr>
            <a:r>
              <a:t>14 / 附录：常见问题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354C"/>
                </a:solidFill>
                <a:latin typeface="Heiti SC"/>
              </a:defRPr>
            </a:pPr>
            <a:r>
              <a:t>回答质疑时，说明证据和限制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能否兑现金？不能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绝对公平？</a:t>
            </a:r>
          </a:p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不能保证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9944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重复领取？</a:t>
            </a:r>
          </a:p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同一实例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7736" y="2423160"/>
            <a:ext cx="251460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BBD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27464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75A8"/>
                </a:solidFill>
                <a:latin typeface="Heiti SC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7464" y="3063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354C"/>
                </a:solidFill>
                <a:latin typeface="Heiti SC"/>
              </a:defRPr>
            </a:pPr>
            <a:r>
              <a:t>隐私？组织级边界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262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8354C"/>
                </a:solidFill>
                <a:latin typeface="Heiti SC"/>
              </a:defRPr>
            </a:pPr>
            <a:r>
              <a:t>验证方式：操作角色、对象编号与状态共同核对；不以页面成功提示替代链上证据。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86477"/>
                </a:solidFill>
                <a:latin typeface="Heiti SC"/>
              </a:defRPr>
            </a:pPr>
            <a:r>
              <a:t>证据：evidence-2026-09-10/badge-financial-invariants.json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