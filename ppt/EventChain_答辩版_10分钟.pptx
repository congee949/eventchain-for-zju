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aec4c8646447c2" /><Relationship Type="http://schemas.openxmlformats.org/officeDocument/2006/relationships/extended-properties" Target="/docProps/app.xml" Id="R839abbf61cc740c2" /><Relationship Type="http://schemas.openxmlformats.org/officeDocument/2006/relationships/officeDocument" Target="/ppt/presentation.xml" Id="R3ab14effadd046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b0ec7c69844cf2"/>
  </p:sldMasterIdLst>
  <p:notesMasterIdLst>
    <p:notesMasterId xmlns:r="http://schemas.openxmlformats.org/officeDocument/2006/relationships" r:id="Rd1196808197049a6"/>
  </p:notesMasterIdLst>
  <p:sldIdLst>
    <p:sldId xmlns:r="http://schemas.openxmlformats.org/officeDocument/2006/relationships" id="256" r:id="R8e8feff08d544910"/>
    <p:sldId xmlns:r="http://schemas.openxmlformats.org/officeDocument/2006/relationships" id="257" r:id="R05bcbc50a4824b3a"/>
    <p:sldId xmlns:r="http://schemas.openxmlformats.org/officeDocument/2006/relationships" id="258" r:id="Rf274c0aad0d245ba"/>
    <p:sldId xmlns:r="http://schemas.openxmlformats.org/officeDocument/2006/relationships" id="259" r:id="Ree5c8ff1075d4281"/>
    <p:sldId xmlns:r="http://schemas.openxmlformats.org/officeDocument/2006/relationships" id="260" r:id="Rf3c1ddcc36474d50"/>
    <p:sldId xmlns:r="http://schemas.openxmlformats.org/officeDocument/2006/relationships" id="261" r:id="Rdaac34dfd0b44552"/>
    <p:sldId xmlns:r="http://schemas.openxmlformats.org/officeDocument/2006/relationships" id="262" r:id="R7442f617d8e045e2"/>
    <p:sldId xmlns:r="http://schemas.openxmlformats.org/officeDocument/2006/relationships" id="263" r:id="R8a842d8b9759403c"/>
    <p:sldId xmlns:r="http://schemas.openxmlformats.org/officeDocument/2006/relationships" id="264" r:id="Ra79bac567a164b09"/>
    <p:sldId xmlns:r="http://schemas.openxmlformats.org/officeDocument/2006/relationships" id="265" r:id="Rb79ee9d134fa4a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9ad8bf0b314a2c" /><Relationship Type="http://schemas.openxmlformats.org/officeDocument/2006/relationships/slideMaster" Target="/ppt/slideMasters/slideMaster1.xml" Id="Rc8b0ec7c69844cf2" /><Relationship Type="http://schemas.openxmlformats.org/officeDocument/2006/relationships/notesMaster" Target="/ppt/notesMasters/notesMaster1.xml" Id="Rd1196808197049a6" /><Relationship Type="http://schemas.openxmlformats.org/officeDocument/2006/relationships/presProps" Target="/ppt/presProps.xml" Id="R540d0dcaf1f547cb" /><Relationship Type="http://schemas.openxmlformats.org/officeDocument/2006/relationships/tableStyles" Target="/ppt/tableStyles.xml" Id="R0d8e65d5ff1a48e0" /><Relationship Type="http://schemas.openxmlformats.org/officeDocument/2006/relationships/slide" Target="/ppt/slides/slide1.xml" Id="R8e8feff08d544910" /><Relationship Type="http://schemas.openxmlformats.org/officeDocument/2006/relationships/slide" Target="/ppt/slides/slide2.xml" Id="R05bcbc50a4824b3a" /><Relationship Type="http://schemas.openxmlformats.org/officeDocument/2006/relationships/slide" Target="/ppt/slides/slide3.xml" Id="Rf274c0aad0d245ba" /><Relationship Type="http://schemas.openxmlformats.org/officeDocument/2006/relationships/slide" Target="/ppt/slides/slide4.xml" Id="Ree5c8ff1075d4281" /><Relationship Type="http://schemas.openxmlformats.org/officeDocument/2006/relationships/slide" Target="/ppt/slides/slide5.xml" Id="Rf3c1ddcc36474d50" /><Relationship Type="http://schemas.openxmlformats.org/officeDocument/2006/relationships/slide" Target="/ppt/slides/slide6.xml" Id="Rdaac34dfd0b44552" /><Relationship Type="http://schemas.openxmlformats.org/officeDocument/2006/relationships/slide" Target="/ppt/slides/slide7.xml" Id="R7442f617d8e045e2" /><Relationship Type="http://schemas.openxmlformats.org/officeDocument/2006/relationships/slide" Target="/ppt/slides/slide8.xml" Id="R8a842d8b9759403c" /><Relationship Type="http://schemas.openxmlformats.org/officeDocument/2006/relationships/slide" Target="/ppt/slides/slide9.xml" Id="Ra79bac567a164b09" /><Relationship Type="http://schemas.openxmlformats.org/officeDocument/2006/relationships/slide" Target="/ppt/slides/slide10.xml" Id="Rb79ee9d134fa4a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958927cfff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2e2c263c7b4b5e" /><Relationship Type="http://schemas.openxmlformats.org/officeDocument/2006/relationships/notesMaster" Target="/ppt/notesMasters/notesMaster1.xml" Id="Rfba7c468425a4a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caf6c7ba634edd" /><Relationship Type="http://schemas.openxmlformats.org/officeDocument/2006/relationships/notesMaster" Target="/ppt/notesMasters/notesMaster1.xml" Id="R8af8ef700ede4a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db1b72dcdf438c" /><Relationship Type="http://schemas.openxmlformats.org/officeDocument/2006/relationships/notesMaster" Target="/ppt/notesMasters/notesMaster1.xml" Id="Rb4a7e7a9a35843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6ca1bfa92d4a75" /><Relationship Type="http://schemas.openxmlformats.org/officeDocument/2006/relationships/notesMaster" Target="/ppt/notesMasters/notesMaster1.xml" Id="R6c540d39f56a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dda04a2550405e" /><Relationship Type="http://schemas.openxmlformats.org/officeDocument/2006/relationships/notesMaster" Target="/ppt/notesMasters/notesMaster1.xml" Id="R875cf5ed6ec443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2a904921ec46bb" /><Relationship Type="http://schemas.openxmlformats.org/officeDocument/2006/relationships/notesMaster" Target="/ppt/notesMasters/notesMaster1.xml" Id="Ra4eca36dbc8545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e1aef401f04987" /><Relationship Type="http://schemas.openxmlformats.org/officeDocument/2006/relationships/notesMaster" Target="/ppt/notesMasters/notesMaster1.xml" Id="R3bcfe7276be446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2b4b6efa1b4163" /><Relationship Type="http://schemas.openxmlformats.org/officeDocument/2006/relationships/notesMaster" Target="/ppt/notesMasters/notesMaster1.xml" Id="R7e957794dc1a4f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f2e8784a7c42a3" /><Relationship Type="http://schemas.openxmlformats.org/officeDocument/2006/relationships/notesMaster" Target="/ppt/notesMasters/notesMaster1.xml" Id="Rb4fac2d602b74e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495b03cd40419c" /><Relationship Type="http://schemas.openxmlformats.org/officeDocument/2006/relationships/notesMaster" Target="/ppt/notesMasters/notesMaster1.xml" Id="R5b5e563028f645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【0:00–0:30】</a:t>
            </a:r>
          </a:p>
          <a:p xmlns:a="http://schemas.openxmlformats.org/drawingml/2006/main">
            <a:r>
              <a:t>EventChain 是区块链技术与实践课程项目。我们选取校园体育参与场景，把积分、赛事预测、活动抽签和票务签到放进同一个可审计流程。接下来重点讲三个问题：为什么需要多组织共享状态，哪些数据应该公开，怎样证明一次操作没有被重复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【0:30–1:20】</a:t>
            </a:r>
          </a:p>
          <a:p xmlns:a="http://schemas.openxmlformats.org/drawingml/2006/main">
            <a:r>
              <a:t>校园活动如果由单一后台管理，数据库足够。我们的课程假设不同：平台、学生和组织方都要核对资格、抽签、奖励与核销，但不希望任何一方能事后改账。Fabric 适合这个前提，因为它把组织身份、背书和共享状态放在同一套协议里。这里先主动说明边界，区块链不是所有系统的默认答案。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【1:20–2:30】</a:t>
            </a:r>
          </a:p>
          <a:p xmlns:a="http://schemas.openxmlformats.org/drawingml/2006/main">
            <a:r>
              <a:t>系统分为浏览器、Express API 和 Fabric 网络三层。V2 只部署 finance 与 activity 两个链码。finance 处理 A/B 钱包、预测、服务与结算，activity 处理活动、抽签、票据和签到。网络包含 Platform、Organizer、Student 三个组织 Peer，排序节点使用 Raft。个人仓位、申请和票据进入 PlatformMSP 与 StudentMSP 的私有数据集合，组织方看不到这些精确值。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【2:30–3:30】</a:t>
            </a:r>
          </a:p>
          <a:p xmlns:a="http://schemas.openxmlformats.org/drawingml/2006/main">
            <a:r>
              <a:t>钱包采用三类资产。A 是系统内基础积分，B_paid 由 A 一比一兑换并可扣费兑回，B_bonus 来自签到或补偿，不可兑回。链码用整数微单位记账，避免浮点误差。默认预测只允许投入 B_bonus，这个限制很关键，它阻止奖励积分通过预测收益绕成可兑回资产。截图来自真实浏览器操作，A 减少一，羽毛球 B_paid 增加一。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【3:30–4:40】</a:t>
            </a:r>
          </a:p>
          <a:p xmlns:a="http://schemas.openxmlformats.org/drawingml/2006/main">
            <a:r>
              <a:t>预测市场把公开信息与个人仓位分开。公开世界状态只给结果标签、市场状态、五分钟延迟并取整的概率，以及取整后的资金池。学生的精确结果、数量和账户仓位保存在私有集合。前端只能读当前证书对应的本人数据。同一幂等键再次提交时，系统返回原交易回执，不会再次扣减余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【4:40–6:00】</a:t>
            </a:r>
          </a:p>
          <a:p xmlns:a="http://schemas.openxmlformats.org/drawingml/2006/main">
            <a:r>
              <a:t>票务抽签采用 commit reveal。独立验证员先提交种子哈希，学生在截止前申请。报名截止后，组织者只能揭示完全相同的原文。链码校验后，对种子、活动编号和匿名账户编号做 SHA256 排序，取前 capacity 名。组织者无法在看到申请人后反复试算新种子。这个方案提高可复核性，但随机种子的生成质量仍属于线下治理边界。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【6:00–7:30】</a:t>
            </a:r>
          </a:p>
          <a:p xmlns:a="http://schemas.openxmlformats.org/drawingml/2006/main">
            <a:r>
              <a:t>中签学生领取票据时，浏览器生成随机秘密，链上只保存哈希。二维码携带票据编号、动态证明和三十秒时间片，不包含原始秘密。运营员核验秘密、时间片、票据状态和活动窗口，同一票据再次提交会返回 409。签到与奖励跨越两个链码，后端按两步幂等流程处理。若奖励提交失败，签到仍然成立，页面明确显示奖励待补发，不会重复核销。现场演示优先使用上传二维码截图，避免单机摄像头切换不稳定。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【7:30–8:20】</a:t>
            </a:r>
          </a:p>
          <a:p xmlns:a="http://schemas.openxmlformats.org/drawingml/2006/main">
            <a:r>
              <a:t>系统把角色分成学生、组织者、验证员、运营员和仲裁员。前端根据角色裁剪入口，Express 路由中间件再次检查登录角色，链码最终读取 Fabric 证书属性。即使绕过前端直接请求接口，也不能跳过链码授权。管理员只用于课程初始化和故障兜底，正式业务流程仍按职责分离。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【8:20–9:05】</a:t>
            </a:r>
          </a:p>
          <a:p xmlns:a="http://schemas.openxmlformats.org/drawingml/2006/main">
            <a:r>
              <a:t>验证分四层。后端有八项接口测试，浏览器有两条有状态流程测试，V2 链码共有六组 Go 测试，前端生产构建通过。真实演示另外核对交易回执、对象编号读回和幂等键重放。浏览器测试使用 API 替身，它验证前端状态衔接，但不能替代真实 Fabric 写入链路，这一点在文档中明确标注。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【9:05–10:00】</a:t>
            </a:r>
          </a:p>
          <a:p xmlns:a="http://schemas.openxmlformats.org/drawingml/2006/main">
            <a:r>
              <a:t>最后说明边界。系统能验证组织身份、权限、承诺和状态变化，也能把敏感数据限制在授权组织内。它不能提供零知识级匿名，不能证明线下身份绝对真实，跨链码签到与发奖也不是原子事务。我们的结论是：当校园平台、学生和组织方确实需要共同复核状态时，Fabric 有价值；如果只有一个可信管理方，普通数据库更简单。谢谢老师，欢迎提问。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0a87ea2e046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cd8ab1d4ed4c04" /><Relationship Type="http://schemas.openxmlformats.org/officeDocument/2006/relationships/slideLayout" Target="/ppt/slideLayouts/slideLayout1.xml" Id="R464507191d65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4507191d65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d074e4bb74e48" /><Relationship Type="http://schemas.openxmlformats.org/officeDocument/2006/relationships/notesSlide" Target="/ppt/notesSlides/notesSlide1.xml" Id="R66859ef71dcb45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893ce8ad146e0" /><Relationship Type="http://schemas.openxmlformats.org/officeDocument/2006/relationships/notesSlide" Target="/ppt/notesSlides/notesSlide2.xml" Id="Raadb47b80e3a47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6c34adc9c44e3" /><Relationship Type="http://schemas.openxmlformats.org/officeDocument/2006/relationships/notesSlide" Target="/ppt/notesSlides/notesSlide3.xml" Id="Rf2e72214e9e242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ca19771704cb1" /><Relationship Type="http://schemas.openxmlformats.org/officeDocument/2006/relationships/image" Target="/ppt/media/image.png" Id="Ra431d760f8ce462e" /><Relationship Type="http://schemas.openxmlformats.org/officeDocument/2006/relationships/notesSlide" Target="/ppt/notesSlides/notesSlide4.xml" Id="R580176aab3ec42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f9935ee25464c" /><Relationship Type="http://schemas.openxmlformats.org/officeDocument/2006/relationships/image" Target="/ppt/media/image2.png" Id="Rd80bee849cd84e4a" /><Relationship Type="http://schemas.openxmlformats.org/officeDocument/2006/relationships/notesSlide" Target="/ppt/notesSlides/notesSlide5.xml" Id="Reed6b35194824a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1685741ab4267" /><Relationship Type="http://schemas.openxmlformats.org/officeDocument/2006/relationships/notesSlide" Target="/ppt/notesSlides/notesSlide6.xml" Id="Rd15c7c3449b84e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4314aedaa4dbe" /><Relationship Type="http://schemas.openxmlformats.org/officeDocument/2006/relationships/image" Target="/ppt/media/image3.png" Id="R84aadf8448724170" /><Relationship Type="http://schemas.openxmlformats.org/officeDocument/2006/relationships/image" Target="/ppt/media/image4.png" Id="R28c3cd61a82542b9" /><Relationship Type="http://schemas.openxmlformats.org/officeDocument/2006/relationships/notesSlide" Target="/ppt/notesSlides/notesSlide7.xml" Id="Rbd07db77f91049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eb49ed1154003" /><Relationship Type="http://schemas.openxmlformats.org/officeDocument/2006/relationships/notesSlide" Target="/ppt/notesSlides/notesSlide8.xml" Id="R740a8c8b681d4d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9d713b6f24216" /><Relationship Type="http://schemas.openxmlformats.org/officeDocument/2006/relationships/notesSlide" Target="/ppt/notesSlides/notesSlide9.xml" Id="R9ce7f352c5df4d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81e37fe5c4977" /><Relationship Type="http://schemas.openxmlformats.org/officeDocument/2006/relationships/notesSlide" Target="/ppt/notesSlides/notesSlide10.xml" Id="R5f3b3612792c4a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1">
            <a:extLst xmlns:a="http://schemas.openxmlformats.org/drawingml/2006/main">
              <a:ext uri="{FF2B5EF4-FFF2-40B4-BE49-F238E27FC236}">
                <a16:creationId xmlns:a16="http://schemas.microsoft.com/office/drawing/2014/main" id="{102D215A-7B99-4DDC-A5A4-16707067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6675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18D3807-51FE-4CE3-A907-54F3A6AD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57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DC8E8"/>
                </a:solidFill>
                <a:latin typeface="Microsoft YaHei"/>
                <a:ea typeface="Microsoft YaHei"/>
                <a:cs typeface="Microsoft YaHei"/>
              </a:rPr>
              <a:t>区块链技术与实践 · 课程答辩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0782C1A-5FE4-4255-A85D-0B18DDE0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EventChain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19595A2-0705-458A-A8D3-E834AC0E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面向校园体育的多组织可信参与系统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66590C9-58F7-4961-BD51-E48E6EF8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C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CEB"/>
                </a:solidFill>
                <a:latin typeface="Microsoft YaHei"/>
                <a:ea typeface="Microsoft YaHei"/>
                <a:cs typeface="Microsoft YaHei"/>
              </a:rPr>
              <a:t>封闭积分、预测市场、承诺揭示抽签与动态票据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0865089-BD33-4F87-A6BF-86B48D1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C8E8"/>
                </a:solidFill>
                <a:latin typeface="Microsoft YaHei"/>
                <a:ea typeface="Microsoft YaHei"/>
                <a:cs typeface="Microsoft YaHei"/>
              </a:rPr>
              <a:t>Vue 3 + Express + Hyperledger Fabric 2.5.15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6DA740D-73B4-498F-8803-5B6FE7D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24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EventChain 项目组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2EE8A6D-7CBE-4E6C-9468-1331F02D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9245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9D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C8E8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878260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9">
            <a:extLst xmlns:a="http://schemas.openxmlformats.org/drawingml/2006/main">
              <a:ext uri="{FF2B5EF4-FFF2-40B4-BE49-F238E27FC236}">
                <a16:creationId xmlns:a16="http://schemas.microsoft.com/office/drawing/2014/main" id="{42B79297-8E77-4EA1-B23A-B83FBC5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02 / 问题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1490337-4098-4B05-9CDE-A81B644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为什么使用共享账本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91343653-2D9E-4E18-87AC-70A0D39A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三方都要核对关键状态，任一方都不应单独改写结果</a:t>
            </a:r>
          </a:p>
        </p:txBody>
      </p:sp>
      <p:sp>
        <p:nvSpPr>
          <p:cNvPr id="4" name="rule-12">
            <a:extLst xmlns:a="http://schemas.openxmlformats.org/drawingml/2006/main">
              <a:ext uri="{FF2B5EF4-FFF2-40B4-BE49-F238E27FC236}">
                <a16:creationId xmlns:a16="http://schemas.microsoft.com/office/drawing/2014/main" id="{8458C68B-F935-4EFB-8406-A2C3865C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ABBD979E-E1B1-45E8-B86C-F2F5599A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EventChain  /  区块链技术与实践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B56995AD-8704-40D1-82DB-102B236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BECC418F-59AD-4786-9042-7D6113B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408DF5DE-1AB0-48AE-A13F-029A4865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关心余额、仓位、抽签结果和票据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57A69EE4-1B77-48FE-97C2-31457E53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组织方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3F9F7A62-277A-477E-BBED-6A523AE4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创建市场与活动，提交结果并履约</a:t>
            </a:r>
          </a:p>
        </p:txBody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317CFFCF-1366-4172-957E-C871922A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0E1BC77A-E430-46ED-835E-9296FDE9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管理身份，处理核验、结算和争议</a:t>
            </a:r>
          </a:p>
        </p:txBody>
      </p:sp>
      <p:sp>
        <p:nvSpPr>
          <p:cNvPr id="13" name="rule-21">
            <a:extLst xmlns:a="http://schemas.openxmlformats.org/drawingml/2006/main">
              <a:ext uri="{FF2B5EF4-FFF2-40B4-BE49-F238E27FC236}">
                <a16:creationId xmlns:a16="http://schemas.microsoft.com/office/drawing/2014/main" id="{D7F47D04-BF73-477F-AA46-FB8723F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D1"/>
            </a:solidFill>
            <a:prstDash val="solid"/>
          </a:ln>
        </p:spPr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B8FD491C-2B7A-4DA3-B79A-3F999353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同一个对象编号，同一条状态变化</a:t>
            </a:r>
          </a:p>
        </p:txBody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3B1F6D2C-14B2-4A2D-98D8-60AE113A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资格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681FE4BF-6D77-4BAD-A561-C0B76081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谁可以参与</a:t>
            </a:r>
          </a:p>
        </p:txBody>
      </p:sp>
      <p:sp>
        <p:nvSpPr>
          <p:cNvPr id="17" name="shape-25">
            <a:extLst xmlns:a="http://schemas.openxmlformats.org/drawingml/2006/main">
              <a:ext uri="{FF2B5EF4-FFF2-40B4-BE49-F238E27FC236}">
                <a16:creationId xmlns:a16="http://schemas.microsoft.com/office/drawing/2014/main" id="{B377A51F-F67D-4F2D-8802-5210706A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719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1755876C-FEF2-408D-BEE2-F57AFE16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148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394673D2-8520-4017-82D6-1D2CC97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862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承诺了什么</a:t>
            </a:r>
          </a:p>
        </p:txBody>
      </p:sp>
      <p:sp>
        <p:nvSpPr>
          <p:cNvPr id="20" name="shape-28">
            <a:extLst xmlns:a="http://schemas.openxmlformats.org/drawingml/2006/main">
              <a:ext uri="{FF2B5EF4-FFF2-40B4-BE49-F238E27FC236}">
                <a16:creationId xmlns:a16="http://schemas.microsoft.com/office/drawing/2014/main" id="{6EF4D078-F3E8-4F94-806D-BF3CAC2B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49D42C69-E97C-4607-B01E-6FCC25D2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55295431-7EC8-43F4-88C8-A7B272BA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862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何时确定</a:t>
            </a:r>
          </a:p>
        </p:txBody>
      </p:sp>
      <p:sp>
        <p:nvSpPr>
          <p:cNvPr id="23" name="shape-31">
            <a:extLst xmlns:a="http://schemas.openxmlformats.org/drawingml/2006/main">
              <a:ext uri="{FF2B5EF4-FFF2-40B4-BE49-F238E27FC236}">
                <a16:creationId xmlns:a16="http://schemas.microsoft.com/office/drawing/2014/main" id="{96E15711-8C96-4DB8-96B3-D4C6FED2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07A3356D-7187-4300-971D-A6C7BB03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148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回执</a:t>
            </a:r>
          </a:p>
        </p:txBody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412C4AA5-092A-4BF0-BF79-8F65EFF2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862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是否重复执行</a:t>
            </a:r>
          </a:p>
        </p:txBody>
      </p:sp>
      <p:sp>
        <p:nvSpPr>
          <p:cNvPr id="26" name="shape-34">
            <a:extLst xmlns:a="http://schemas.openxmlformats.org/drawingml/2006/main">
              <a:ext uri="{FF2B5EF4-FFF2-40B4-BE49-F238E27FC236}">
                <a16:creationId xmlns:a16="http://schemas.microsoft.com/office/drawing/2014/main" id="{669C5154-A126-4845-A385-1FA9A448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DA08B2AB-4820-464C-B756-9DD45E9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4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项目假设：平台、学生与组织方需要共享可审计状态。若只有一个可信管理员，普通数据库更简单。</a:t>
            </a:r>
          </a:p>
        </p:txBody>
      </p:sp>
    </p:spTree>
    <p:extLst>
      <p:ext uri="{BB962C8B-B14F-4D97-AF65-F5344CB8AC3E}">
        <p14:creationId xmlns:p14="http://schemas.microsoft.com/office/powerpoint/2010/main" val="2035257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36">
            <a:extLst xmlns:a="http://schemas.openxmlformats.org/drawingml/2006/main">
              <a:ext uri="{FF2B5EF4-FFF2-40B4-BE49-F238E27FC236}">
                <a16:creationId xmlns:a16="http://schemas.microsoft.com/office/drawing/2014/main" id="{07F48E0C-8B10-46B8-B2F2-59E259A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03 / 架构</a:t>
            </a:r>
          </a:p>
        </p:txBody>
      </p:sp>
      <p:sp>
        <p:nvSpPr>
          <p:cNvPr id="2" name="text-37">
            <a:extLst xmlns:a="http://schemas.openxmlformats.org/drawingml/2006/main">
              <a:ext uri="{FF2B5EF4-FFF2-40B4-BE49-F238E27FC236}">
                <a16:creationId xmlns:a16="http://schemas.microsoft.com/office/drawing/2014/main" id="{A864F531-488B-4DB9-B031-580B2EA4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V2 系统由两个链码承担业务状态</a:t>
            </a:r>
          </a:p>
        </p:txBody>
      </p:sp>
      <p:sp>
        <p:nvSpPr>
          <p:cNvPr id="3" name="text-38">
            <a:extLst xmlns:a="http://schemas.openxmlformats.org/drawingml/2006/main">
              <a:ext uri="{FF2B5EF4-FFF2-40B4-BE49-F238E27FC236}">
                <a16:creationId xmlns:a16="http://schemas.microsoft.com/office/drawing/2014/main" id="{0C0F403A-FC79-40C3-9DAA-78C3138D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浏览器只提供交互，最终权限由后端和链码共同判定</a:t>
            </a:r>
          </a:p>
        </p:txBody>
      </p:sp>
      <p:sp>
        <p:nvSpPr>
          <p:cNvPr id="4" name="rule-39">
            <a:extLst xmlns:a="http://schemas.openxmlformats.org/drawingml/2006/main">
              <a:ext uri="{FF2B5EF4-FFF2-40B4-BE49-F238E27FC236}">
                <a16:creationId xmlns:a16="http://schemas.microsoft.com/office/drawing/2014/main" id="{03A430C9-DBD9-4DEE-B581-9482D5A6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5" name="text-40">
            <a:extLst xmlns:a="http://schemas.openxmlformats.org/drawingml/2006/main">
              <a:ext uri="{FF2B5EF4-FFF2-40B4-BE49-F238E27FC236}">
                <a16:creationId xmlns:a16="http://schemas.microsoft.com/office/drawing/2014/main" id="{A2A264FD-8D8E-4871-B14F-CB07EC67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EventChain  /  区块链技术与实践</a:t>
            </a:r>
          </a:p>
        </p:txBody>
      </p:sp>
      <p:sp>
        <p:nvSpPr>
          <p:cNvPr id="6" name="text-41">
            <a:extLst xmlns:a="http://schemas.openxmlformats.org/drawingml/2006/main">
              <a:ext uri="{FF2B5EF4-FFF2-40B4-BE49-F238E27FC236}">
                <a16:creationId xmlns:a16="http://schemas.microsoft.com/office/drawing/2014/main" id="{AAECD51E-DC4E-4CA8-9B9F-C8597427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shape-42">
            <a:extLst xmlns:a="http://schemas.openxmlformats.org/drawingml/2006/main">
              <a:ext uri="{FF2B5EF4-FFF2-40B4-BE49-F238E27FC236}">
                <a16:creationId xmlns:a16="http://schemas.microsoft.com/office/drawing/2014/main" id="{2A8042B3-A545-43CF-9ECB-ADE97AE0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CE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Vue 3 前端</a:t>
            </a:r>
          </a:p>
          <a:p xmlns:a="http://schemas.openxmlformats.org/drawingml/2006/main">
            <a:pPr algn="ctr">
              <a:defRPr sz="1575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Pinia / Element Plus</a:t>
            </a:r>
          </a:p>
        </p:txBody>
      </p:sp>
      <p:sp>
        <p:nvSpPr>
          <p:cNvPr id="8" name="shape-43">
            <a:extLst xmlns:a="http://schemas.openxmlformats.org/drawingml/2006/main">
              <a:ext uri="{FF2B5EF4-FFF2-40B4-BE49-F238E27FC236}">
                <a16:creationId xmlns:a16="http://schemas.microsoft.com/office/drawing/2014/main" id="{70B8A69D-F1B7-484F-9295-3B915C88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2686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CE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Express API</a:t>
            </a:r>
          </a:p>
          <a:p xmlns:a="http://schemas.openxmlformats.org/drawingml/2006/main">
            <a:pPr algn="ctr">
              <a:defRPr sz="15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SQLite 登录 / Fabric Gateway</a:t>
            </a:r>
          </a:p>
        </p:txBody>
      </p:sp>
      <p:sp>
        <p:nvSpPr>
          <p:cNvPr id="9" name="shape-44">
            <a:extLst xmlns:a="http://schemas.openxmlformats.org/drawingml/2006/main">
              <a:ext uri="{FF2B5EF4-FFF2-40B4-BE49-F238E27FC236}">
                <a16:creationId xmlns:a16="http://schemas.microsoft.com/office/drawing/2014/main" id="{41F7D34D-35BD-4581-A67A-39C0FCD6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62100"/>
            <a:ext cx="4857750" cy="4210050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9050">
            <a:solidFill>
              <a:srgbClr val="2475A8"/>
            </a:solidFill>
            <a:prstDash val="solid"/>
          </a:ln>
        </p:spPr>
      </p:sp>
      <p:sp>
        <p:nvSpPr>
          <p:cNvPr id="10" name="text-45">
            <a:extLst xmlns:a="http://schemas.openxmlformats.org/drawingml/2006/main">
              <a:ext uri="{FF2B5EF4-FFF2-40B4-BE49-F238E27FC236}">
                <a16:creationId xmlns:a16="http://schemas.microsoft.com/office/drawing/2014/main" id="{69D984DE-755A-4A6B-A9AF-E54D302C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33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Hyperledger Fabric 2.5.15</a:t>
            </a:r>
          </a:p>
        </p:txBody>
      </p:sp>
      <p:sp>
        <p:nvSpPr>
          <p:cNvPr id="11" name="text-46">
            <a:extLst xmlns:a="http://schemas.openxmlformats.org/drawingml/2006/main">
              <a:ext uri="{FF2B5EF4-FFF2-40B4-BE49-F238E27FC236}">
                <a16:creationId xmlns:a16="http://schemas.microsoft.com/office/drawing/2014/main" id="{4D2E4FB7-29AB-42A6-A3D4-A12124E5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eventchain channel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00350" y="2447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80D1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57900" y="2447925"/>
            <a:ext cx="66675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80D1"/>
            </a:solidFill>
            <a:prstDash val="solid"/>
            <a:tailEnd type="triangle" w="sm" len="sm"/>
          </a:ln>
        </p:spPr>
      </p:cxnSp>
      <p:sp>
        <p:nvSpPr>
          <p:cNvPr id="14" name="shape-47">
            <a:extLst xmlns:a="http://schemas.openxmlformats.org/drawingml/2006/main">
              <a:ext uri="{FF2B5EF4-FFF2-40B4-BE49-F238E27FC236}">
                <a16:creationId xmlns:a16="http://schemas.microsoft.com/office/drawing/2014/main" id="{55D4C386-BA65-497D-82EC-A1811F0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1809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2475A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Orderer</a:t>
            </a:r>
          </a:p>
          <a:p xmlns:a="http://schemas.openxmlformats.org/drawingml/2006/main">
            <a:pPr algn="ctr">
              <a:defRPr sz="1275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Raft 共识</a:t>
            </a:r>
          </a:p>
        </p:txBody>
      </p:sp>
      <p:sp>
        <p:nvSpPr>
          <p:cNvPr id="15" name="shape-48">
            <a:extLst xmlns:a="http://schemas.openxmlformats.org/drawingml/2006/main">
              <a:ext uri="{FF2B5EF4-FFF2-40B4-BE49-F238E27FC236}">
                <a16:creationId xmlns:a16="http://schemas.microsoft.com/office/drawing/2014/main" id="{75DF673B-64DF-442A-B814-4BBE926E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90875"/>
            <a:ext cx="1352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39A9D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Platform Peer</a:t>
            </a:r>
          </a:p>
          <a:p xmlns:a="http://schemas.openxmlformats.org/drawingml/2006/main">
            <a:pPr algn="ctr">
              <a:def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PlatformMSP</a:t>
            </a:r>
          </a:p>
        </p:txBody>
      </p:sp>
      <p:sp>
        <p:nvSpPr>
          <p:cNvPr id="16" name="shape-49">
            <a:extLst xmlns:a="http://schemas.openxmlformats.org/drawingml/2006/main">
              <a:ext uri="{FF2B5EF4-FFF2-40B4-BE49-F238E27FC236}">
                <a16:creationId xmlns:a16="http://schemas.microsoft.com/office/drawing/2014/main" id="{5AE23CD0-5600-4A19-8A6B-A5CC3507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90875"/>
            <a:ext cx="1352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2AA87E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630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Organizer Peer</a:t>
            </a:r>
          </a:p>
          <a:p xmlns:a="http://schemas.openxmlformats.org/drawingml/2006/main">
            <a:pPr algn="ctr">
              <a:def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OrganizerMSP</a:t>
            </a:r>
          </a:p>
        </p:txBody>
      </p:sp>
      <p:sp>
        <p:nvSpPr>
          <p:cNvPr id="17" name="shape-50">
            <a:extLst xmlns:a="http://schemas.openxmlformats.org/drawingml/2006/main">
              <a:ext uri="{FF2B5EF4-FFF2-40B4-BE49-F238E27FC236}">
                <a16:creationId xmlns:a16="http://schemas.microsoft.com/office/drawing/2014/main" id="{5BFD1DDA-7C59-4538-A54A-17FF694D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90875"/>
            <a:ext cx="1352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EDFA"/>
          </a:solidFill>
          <a:ln xmlns:a="http://schemas.openxmlformats.org/drawingml/2006/main" w="9525">
            <a:solidFill>
              <a:srgbClr val="6A4CC3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Student Peer</a:t>
            </a:r>
          </a:p>
          <a:p xmlns:a="http://schemas.openxmlformats.org/drawingml/2006/main">
            <a:pPr algn="ctr">
              <a:def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StudentMSP</a:t>
            </a:r>
          </a:p>
        </p:txBody>
      </p:sp>
      <p:cxnSp>
        <p:nvCxnSpPr>
          <p:cNvPr id="43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7629525" y="2857500"/>
            <a:ext cx="150495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89A0B0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134475" y="2857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9A0B0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134475" y="2857500"/>
            <a:ext cx="150495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89A0B0"/>
            </a:solidFill>
            <a:prstDash val="solid"/>
          </a:ln>
        </p:spPr>
      </p:cxnSp>
      <p:sp>
        <p:nvSpPr>
          <p:cNvPr id="21" name="shape-51">
            <a:extLst xmlns:a="http://schemas.openxmlformats.org/drawingml/2006/main">
              <a:ext uri="{FF2B5EF4-FFF2-40B4-BE49-F238E27FC236}">
                <a16:creationId xmlns:a16="http://schemas.microsoft.com/office/drawing/2014/main" id="{B02D25CE-985F-428D-A8D4-C19CAA42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C2438"/>
          </a:solidFill>
          <a:ln xmlns:a="http://schemas.openxmlformats.org/drawingml/2006/main" w="9525">
            <a:solidFill>
              <a:srgbClr val="0C243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finance 链码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钱包 / 市场 / 服务 / 结算</a:t>
            </a:r>
          </a:p>
        </p:txBody>
      </p:sp>
      <p:sp>
        <p:nvSpPr>
          <p:cNvPr id="22" name="shape-52">
            <a:extLst xmlns:a="http://schemas.openxmlformats.org/drawingml/2006/main">
              <a:ext uri="{FF2B5EF4-FFF2-40B4-BE49-F238E27FC236}">
                <a16:creationId xmlns:a16="http://schemas.microsoft.com/office/drawing/2014/main" id="{304C065E-307D-4927-9985-BD6784E7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0530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75A8"/>
          </a:solidFill>
          <a:ln xmlns:a="http://schemas.openxmlformats.org/drawingml/2006/main" w="9525">
            <a:solidFill>
              <a:srgbClr val="2475A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activity 链码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 / 抽签 / 票据 / 签到</a:t>
            </a:r>
          </a:p>
        </p:txBody>
      </p:sp>
      <p:sp>
        <p:nvSpPr>
          <p:cNvPr id="23" name="text-53">
            <a:extLst xmlns:a="http://schemas.openxmlformats.org/drawingml/2006/main">
              <a:ext uri="{FF2B5EF4-FFF2-40B4-BE49-F238E27FC236}">
                <a16:creationId xmlns:a16="http://schemas.microsoft.com/office/drawing/2014/main" id="{730BBFEC-A57D-4065-80F8-2CDFA30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私有数据集合：PlatformMSP + StudentMSP 可见，OrganizerMSP 不读取个人仓位、申请和票据</a:t>
            </a:r>
          </a:p>
        </p:txBody>
      </p:sp>
      <p:sp>
        <p:nvSpPr>
          <p:cNvPr id="24" name="text-54">
            <a:extLst xmlns:a="http://schemas.openxmlformats.org/drawingml/2006/main">
              <a:ext uri="{FF2B5EF4-FFF2-40B4-BE49-F238E27FC236}">
                <a16:creationId xmlns:a16="http://schemas.microsoft.com/office/drawing/2014/main" id="{64DA56ED-203C-4CC0-9381-53372EA5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2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旧 token / event / prediction / ticket 链码仅保留源码对照，V2 网络只部署 finance 与 activity。</a:t>
            </a:r>
          </a:p>
        </p:txBody>
      </p:sp>
      <p:sp>
        <p:nvSpPr>
          <p:cNvPr id="25" name="text-55">
            <a:extLst xmlns:a="http://schemas.openxmlformats.org/drawingml/2006/main">
              <a:ext uri="{FF2B5EF4-FFF2-40B4-BE49-F238E27FC236}">
                <a16:creationId xmlns:a16="http://schemas.microsoft.com/office/drawing/2014/main" id="{9BB48AFF-73CA-4331-B87C-5AF5510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网络：3 个组织 Peer + 1 个 Raft Orderer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状态库：CouchDB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金额：整数微单位，链码禁止浮点运算</a:t>
            </a:r>
          </a:p>
        </p:txBody>
      </p:sp>
    </p:spTree>
    <p:extLst>
      <p:ext uri="{BB962C8B-B14F-4D97-AF65-F5344CB8AC3E}">
        <p14:creationId xmlns:p14="http://schemas.microsoft.com/office/powerpoint/2010/main" val="815062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56">
            <a:extLst xmlns:a="http://schemas.openxmlformats.org/drawingml/2006/main">
              <a:ext uri="{FF2B5EF4-FFF2-40B4-BE49-F238E27FC236}">
                <a16:creationId xmlns:a16="http://schemas.microsoft.com/office/drawing/2014/main" id="{106CEEDE-267F-4480-98EE-3AC8C65A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04 / 积分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04D43E74-6900-467F-AC9D-3F2404A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封闭积分的账务边界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00E35E92-7080-43FB-953D-2334CDD9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A、B_paid、B_bonus 分开记账，默认预测只使用奖励积分</a:t>
            </a:r>
          </a:p>
        </p:txBody>
      </p:sp>
      <p:sp>
        <p:nvSpPr>
          <p:cNvPr id="4" name="rule-59">
            <a:extLst xmlns:a="http://schemas.openxmlformats.org/drawingml/2006/main">
              <a:ext uri="{FF2B5EF4-FFF2-40B4-BE49-F238E27FC236}">
                <a16:creationId xmlns:a16="http://schemas.microsoft.com/office/drawing/2014/main" id="{DA425DE4-5C4C-4DA0-A022-9F21C1C0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43AD892E-DFA1-4645-88E1-60DD4C82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EventChain  /  区块链技术与实践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6BE92599-DEC7-44A9-912B-377C942E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shape-62">
            <a:extLst xmlns:a="http://schemas.openxmlformats.org/drawingml/2006/main">
              <a:ext uri="{FF2B5EF4-FFF2-40B4-BE49-F238E27FC236}">
                <a16:creationId xmlns:a16="http://schemas.microsoft.com/office/drawing/2014/main" id="{B873B3B2-0635-47DC-AE18-4A6360F2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524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C2438"/>
          </a:solidFill>
          <a:ln xmlns:a="http://schemas.openxmlformats.org/drawingml/2006/main" w="9525">
            <a:solidFill>
              <a:srgbClr val="0C243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基础积分</a:t>
            </a:r>
          </a:p>
        </p:txBody>
      </p:sp>
      <p:sp>
        <p:nvSpPr>
          <p:cNvPr id="8" name="shape-63">
            <a:extLst xmlns:a="http://schemas.openxmlformats.org/drawingml/2006/main">
              <a:ext uri="{FF2B5EF4-FFF2-40B4-BE49-F238E27FC236}">
                <a16:creationId xmlns:a16="http://schemas.microsoft.com/office/drawing/2014/main" id="{55420DA0-D3DB-4741-A78D-E4DCE993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240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475A8"/>
          </a:solidFill>
          <a:ln xmlns:a="http://schemas.openxmlformats.org/drawingml/2006/main" w="9525">
            <a:solidFill>
              <a:srgbClr val="2475A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B_paid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 A 储备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09800" y="2419350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F80D1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0" name="text-64">
            <a:extLst xmlns:a="http://schemas.openxmlformats.org/drawingml/2006/main">
              <a:ext uri="{FF2B5EF4-FFF2-40B4-BE49-F238E27FC236}">
                <a16:creationId xmlns:a16="http://schemas.microsoft.com/office/drawing/2014/main" id="{5026215B-D0BC-4C66-A472-5DF62CD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229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1 : 1 兑换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兑回费 0.5%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365 天到期自动退 A</a:t>
            </a:r>
          </a:p>
        </p:txBody>
      </p:sp>
      <p:sp>
        <p:nvSpPr>
          <p:cNvPr id="11" name="shape-65">
            <a:extLst xmlns:a="http://schemas.openxmlformats.org/drawingml/2006/main">
              <a:ext uri="{FF2B5EF4-FFF2-40B4-BE49-F238E27FC236}">
                <a16:creationId xmlns:a16="http://schemas.microsoft.com/office/drawing/2014/main" id="{E02580BA-4C03-4B2F-B4C8-723F0B7A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52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9525">
            <a:solidFill>
              <a:srgbClr val="C8DCE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签到 / 补偿</a:t>
            </a:r>
          </a:p>
        </p:txBody>
      </p:sp>
      <p:sp>
        <p:nvSpPr>
          <p:cNvPr id="12" name="shape-66">
            <a:extLst xmlns:a="http://schemas.openxmlformats.org/drawingml/2006/main">
              <a:ext uri="{FF2B5EF4-FFF2-40B4-BE49-F238E27FC236}">
                <a16:creationId xmlns:a16="http://schemas.microsoft.com/office/drawing/2014/main" id="{7A5D9A2D-844E-4B8E-90E8-A1D4839D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EDFA"/>
          </a:solidFill>
          <a:ln xmlns:a="http://schemas.openxmlformats.org/drawingml/2006/main" w="9525">
            <a:solidFill>
              <a:srgbClr val="6A4CC3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rPr>
              <a:t>B_bonus</a:t>
            </a:r>
          </a:p>
          <a:p xmlns:a="http://schemas.openxmlformats.org/drawingml/2006/main">
            <a:pPr algn="ctr">
              <a:defRPr sz="180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rPr>
              <a:t>不可兑回</a:t>
            </a:r>
          </a:p>
        </p:txBody>
      </p: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209800" y="4867275"/>
            <a:ext cx="895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A4CC3"/>
            </a:solidFill>
            <a:prstDash val="solid"/>
            <a:tailEnd type="triangle" w="sm" len="sm"/>
          </a:ln>
        </p:spPr>
      </p:cxnSp>
      <p:sp>
        <p:nvSpPr>
          <p:cNvPr id="14" name="text-67">
            <a:extLst xmlns:a="http://schemas.openxmlformats.org/drawingml/2006/main">
              <a:ext uri="{FF2B5EF4-FFF2-40B4-BE49-F238E27FC236}">
                <a16:creationId xmlns:a16="http://schemas.microsoft.com/office/drawing/2014/main" id="{C9158A28-0CC2-4669-9025-DE51F533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959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rPr>
              <a:t>90 天到期销毁</a:t>
            </a:r>
          </a:p>
        </p:txBody>
      </p:sp>
      <p:sp>
        <p:nvSpPr>
          <p:cNvPr id="15" name="shape-68">
            <a:extLst xmlns:a="http://schemas.openxmlformats.org/drawingml/2006/main">
              <a:ext uri="{FF2B5EF4-FFF2-40B4-BE49-F238E27FC236}">
                <a16:creationId xmlns:a16="http://schemas.microsoft.com/office/drawing/2014/main" id="{A65D247F-C222-4F77-8823-F009DD9C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866900"/>
            <a:ext cx="5810250" cy="3619500"/>
          </a:xfrm>
          <a:prstGeom xmlns:a="http://schemas.openxmlformats.org/drawingml/2006/main" prst="roundRect">
            <a:avLst>
              <a:gd name="adj" fmla="val 3421"/>
            </a:avLst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1d760f8ce462e"/>
          <a:stretch xmlns:a="http://schemas.openxmlformats.org/drawingml/2006/main"/>
        </p:blipFill>
        <p:spPr>
          <a:xfrm xmlns:a="http://schemas.openxmlformats.org/drawingml/2006/main">
            <a:off x="5989108" y="1790700"/>
            <a:ext cx="5147733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17" name="text-69">
            <a:extLst xmlns:a="http://schemas.openxmlformats.org/drawingml/2006/main">
              <a:ext uri="{FF2B5EF4-FFF2-40B4-BE49-F238E27FC236}">
                <a16:creationId xmlns:a16="http://schemas.microsoft.com/office/drawing/2014/main" id="{74C07F14-2238-4110-AFA9-262A070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真实浏览器读回：A 减少 1，羽毛球 B_paid 增加 1</a:t>
            </a:r>
          </a:p>
        </p:txBody>
      </p:sp>
      <p:sp>
        <p:nvSpPr>
          <p:cNvPr id="18" name="shape-70">
            <a:extLst xmlns:a="http://schemas.openxmlformats.org/drawingml/2006/main">
              <a:ext uri="{FF2B5EF4-FFF2-40B4-BE49-F238E27FC236}">
                <a16:creationId xmlns:a16="http://schemas.microsoft.com/office/drawing/2014/main" id="{8EAD2DFB-4880-41B3-AC6F-BD076DFE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71">
            <a:extLst xmlns:a="http://schemas.openxmlformats.org/drawingml/2006/main">
              <a:ext uri="{FF2B5EF4-FFF2-40B4-BE49-F238E27FC236}">
                <a16:creationId xmlns:a16="http://schemas.microsoft.com/office/drawing/2014/main" id="{E1DCCF52-1165-443C-A22E-61363364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默认预测市场使用 B_bonus，避免活动奖励通过预测收益变成可兑回资产。</a:t>
            </a:r>
          </a:p>
        </p:txBody>
      </p:sp>
    </p:spTree>
    <p:extLst>
      <p:ext uri="{BB962C8B-B14F-4D97-AF65-F5344CB8AC3E}">
        <p14:creationId xmlns:p14="http://schemas.microsoft.com/office/powerpoint/2010/main" val="735733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72">
            <a:extLst xmlns:a="http://schemas.openxmlformats.org/drawingml/2006/main">
              <a:ext uri="{FF2B5EF4-FFF2-40B4-BE49-F238E27FC236}">
                <a16:creationId xmlns:a16="http://schemas.microsoft.com/office/drawing/2014/main" id="{8C747C5F-8865-40D6-8C5C-22E8335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05 / 预测</a:t>
            </a:r>
          </a:p>
        </p:txBody>
      </p:sp>
      <p:sp>
        <p:nvSpPr>
          <p:cNvPr id="2" name="text-73">
            <a:extLst xmlns:a="http://schemas.openxmlformats.org/drawingml/2006/main">
              <a:ext uri="{FF2B5EF4-FFF2-40B4-BE49-F238E27FC236}">
                <a16:creationId xmlns:a16="http://schemas.microsoft.com/office/drawing/2014/main" id="{D76A2A97-17F9-415B-9FDE-FA23A6CE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公开快照与私有仓位分开读取</a:t>
            </a:r>
          </a:p>
        </p:txBody>
      </p:sp>
      <p:sp>
        <p:nvSpPr>
          <p:cNvPr id="3" name="text-74">
            <a:extLst xmlns:a="http://schemas.openxmlformats.org/drawingml/2006/main">
              <a:ext uri="{FF2B5EF4-FFF2-40B4-BE49-F238E27FC236}">
                <a16:creationId xmlns:a16="http://schemas.microsoft.com/office/drawing/2014/main" id="{31127C71-4184-4ADA-A4AB-DBFE4D7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市场可解释，个人选择不公开</a:t>
            </a:r>
          </a:p>
        </p:txBody>
      </p:sp>
      <p:sp>
        <p:nvSpPr>
          <p:cNvPr id="4" name="rule-75">
            <a:extLst xmlns:a="http://schemas.openxmlformats.org/drawingml/2006/main">
              <a:ext uri="{FF2B5EF4-FFF2-40B4-BE49-F238E27FC236}">
                <a16:creationId xmlns:a16="http://schemas.microsoft.com/office/drawing/2014/main" id="{3E6D63FC-84DA-4086-87A9-40F8B1E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5" name="text-76">
            <a:extLst xmlns:a="http://schemas.openxmlformats.org/drawingml/2006/main">
              <a:ext uri="{FF2B5EF4-FFF2-40B4-BE49-F238E27FC236}">
                <a16:creationId xmlns:a16="http://schemas.microsoft.com/office/drawing/2014/main" id="{2D56FA36-8A86-458E-AAFF-3BEC3BF0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EventChain  /  区块链技术与实践</a:t>
            </a:r>
          </a:p>
        </p:txBody>
      </p:sp>
      <p:sp>
        <p:nvSpPr>
          <p:cNvPr id="6" name="text-77">
            <a:extLst xmlns:a="http://schemas.openxmlformats.org/drawingml/2006/main">
              <a:ext uri="{FF2B5EF4-FFF2-40B4-BE49-F238E27FC236}">
                <a16:creationId xmlns:a16="http://schemas.microsoft.com/office/drawing/2014/main" id="{6C4F6F9D-85B2-4794-99BB-A1003A32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shape-78">
            <a:extLst xmlns:a="http://schemas.openxmlformats.org/drawingml/2006/main">
              <a:ext uri="{FF2B5EF4-FFF2-40B4-BE49-F238E27FC236}">
                <a16:creationId xmlns:a16="http://schemas.microsoft.com/office/drawing/2014/main" id="{30F098F7-33BA-475F-A404-A94D9E93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6191250" cy="3829050"/>
          </a:xfrm>
          <a:prstGeom xmlns:a="http://schemas.openxmlformats.org/drawingml/2006/main" prst="roundRect">
            <a:avLst>
              <a:gd name="adj" fmla="val 3234"/>
            </a:avLst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bee849cd84e4a"/>
          <a:stretch xmlns:a="http://schemas.openxmlformats.org/drawingml/2006/main"/>
        </p:blipFill>
        <p:spPr>
          <a:xfrm xmlns:a="http://schemas.openxmlformats.org/drawingml/2006/main">
            <a:off x="982345" y="1733550"/>
            <a:ext cx="5445760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9" name="text-79">
            <a:extLst xmlns:a="http://schemas.openxmlformats.org/drawingml/2006/main">
              <a:ext uri="{FF2B5EF4-FFF2-40B4-BE49-F238E27FC236}">
                <a16:creationId xmlns:a16="http://schemas.microsoft.com/office/drawing/2014/main" id="{10A8FA41-C1D7-4B42-B671-994F7AB9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公开状态</a:t>
            </a:r>
          </a:p>
        </p:txBody>
      </p:sp>
      <p:sp>
        <p:nvSpPr>
          <p:cNvPr id="10" name="text-80">
            <a:extLst xmlns:a="http://schemas.openxmlformats.org/drawingml/2006/main">
              <a:ext uri="{FF2B5EF4-FFF2-40B4-BE49-F238E27FC236}">
                <a16:creationId xmlns:a16="http://schemas.microsoft.com/office/drawing/2014/main" id="{493AAE56-D565-40CA-B87B-E95577BA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结果标签与市场状态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五分钟取整后的概率快照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取整后的总池与市场上限</a:t>
            </a:r>
          </a:p>
        </p:txBody>
      </p:sp>
      <p:sp>
        <p:nvSpPr>
          <p:cNvPr id="11" name="rule-81">
            <a:extLst xmlns:a="http://schemas.openxmlformats.org/drawingml/2006/main">
              <a:ext uri="{FF2B5EF4-FFF2-40B4-BE49-F238E27FC236}">
                <a16:creationId xmlns:a16="http://schemas.microsoft.com/office/drawing/2014/main" id="{80A5FC15-5B11-49BB-87C1-1A29B83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CEA"/>
            </a:solidFill>
            <a:prstDash val="solid"/>
          </a:ln>
        </p:spPr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AAD7CD33-8068-4583-A403-01CE4ED0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rPr>
              <a:t>本人私有状态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04AE9AF4-AB4E-4E51-A7DA-E91E39CD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精确结果与投入数量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匿名账户的 Position 对象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幂等键对应的交易回执</a:t>
            </a:r>
          </a:p>
        </p:txBody>
      </p:sp>
      <p:sp>
        <p:nvSpPr>
          <p:cNvPr id="14" name="shape-84">
            <a:extLst xmlns:a="http://schemas.openxmlformats.org/drawingml/2006/main">
              <a:ext uri="{FF2B5EF4-FFF2-40B4-BE49-F238E27FC236}">
                <a16:creationId xmlns:a16="http://schemas.microsoft.com/office/drawing/2014/main" id="{8262DBC3-CCAC-4175-A5E6-C2FE162E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C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85">
            <a:extLst xmlns:a="http://schemas.openxmlformats.org/drawingml/2006/main">
              <a:ext uri="{FF2B5EF4-FFF2-40B4-BE49-F238E27FC236}">
                <a16:creationId xmlns:a16="http://schemas.microsoft.com/office/drawing/2014/main" id="{F5A351FD-21D8-4626-BFA5-4D1700EF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051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公开页能解释市场变化，但不能反推出某个学生的精确选择和金额。</a:t>
            </a:r>
          </a:p>
        </p:txBody>
      </p:sp>
    </p:spTree>
    <p:extLst>
      <p:ext uri="{BB962C8B-B14F-4D97-AF65-F5344CB8AC3E}">
        <p14:creationId xmlns:p14="http://schemas.microsoft.com/office/powerpoint/2010/main" val="1374230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6">
            <a:extLst xmlns:a="http://schemas.openxmlformats.org/drawingml/2006/main">
              <a:ext uri="{FF2B5EF4-FFF2-40B4-BE49-F238E27FC236}">
                <a16:creationId xmlns:a16="http://schemas.microsoft.com/office/drawing/2014/main" id="{E7BB63BE-6B52-4C7F-8328-922A0D78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06 / 抽签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C4A46695-0DAF-42E5-928E-D8FFD90B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承诺揭示把随机输入提前锁定</a:t>
            </a:r>
          </a:p>
        </p:txBody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7FEA03F7-38C2-42F4-835C-77DDF1CC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组织者在看到申请名单后不能重新挑选种子</a:t>
            </a:r>
          </a:p>
        </p:txBody>
      </p:sp>
      <p:sp>
        <p:nvSpPr>
          <p:cNvPr id="4" name="rule-89">
            <a:extLst xmlns:a="http://schemas.openxmlformats.org/drawingml/2006/main">
              <a:ext uri="{FF2B5EF4-FFF2-40B4-BE49-F238E27FC236}">
                <a16:creationId xmlns:a16="http://schemas.microsoft.com/office/drawing/2014/main" id="{9BB5BC37-1D48-4C96-B713-025012CB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5" name="text-90">
            <a:extLst xmlns:a="http://schemas.openxmlformats.org/drawingml/2006/main">
              <a:ext uri="{FF2B5EF4-FFF2-40B4-BE49-F238E27FC236}">
                <a16:creationId xmlns:a16="http://schemas.microsoft.com/office/drawing/2014/main" id="{E977CEAC-121D-499B-9294-2403987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EventChain  /  区块链技术与实践</a:t>
            </a:r>
          </a:p>
        </p:txBody>
      </p:sp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4CFC48AF-DD38-45AD-8A4F-C1098794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shape-92">
            <a:extLst xmlns:a="http://schemas.openxmlformats.org/drawingml/2006/main">
              <a:ext uri="{FF2B5EF4-FFF2-40B4-BE49-F238E27FC236}">
                <a16:creationId xmlns:a16="http://schemas.microsoft.com/office/drawing/2014/main" id="{7AA1818A-7A92-482F-B7FE-BDB5020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5A8"/>
          </a:solidFill>
          <a:ln xmlns:a="http://schemas.openxmlformats.org/drawingml/2006/main" w="9525">
            <a:solidFill>
              <a:srgbClr val="2475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-93">
            <a:extLst xmlns:a="http://schemas.openxmlformats.org/drawingml/2006/main">
              <a:ext uri="{FF2B5EF4-FFF2-40B4-BE49-F238E27FC236}">
                <a16:creationId xmlns:a16="http://schemas.microsoft.com/office/drawing/2014/main" id="{61AA3968-F449-4910-BAC8-A93F9C16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验证员</a:t>
            </a:r>
          </a:p>
        </p:txBody>
      </p:sp>
      <p:sp>
        <p:nvSpPr>
          <p:cNvPr id="9" name="text-94">
            <a:extLst xmlns:a="http://schemas.openxmlformats.org/drawingml/2006/main">
              <a:ext uri="{FF2B5EF4-FFF2-40B4-BE49-F238E27FC236}">
                <a16:creationId xmlns:a16="http://schemas.microsoft.com/office/drawing/2014/main" id="{54EDDCE2-F924-4AD3-AD2C-B0807C23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提交 H(seed)</a:t>
            </a:r>
          </a:p>
        </p:txBody>
      </p:sp>
      <p:sp>
        <p:nvSpPr>
          <p:cNvPr id="10" name="shape-95">
            <a:extLst xmlns:a="http://schemas.openxmlformats.org/drawingml/2006/main">
              <a:ext uri="{FF2B5EF4-FFF2-40B4-BE49-F238E27FC236}">
                <a16:creationId xmlns:a16="http://schemas.microsoft.com/office/drawing/2014/main" id="{A986E524-4B74-49E3-9574-FC93928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4CC3"/>
          </a:solidFill>
          <a:ln xmlns:a="http://schemas.openxmlformats.org/drawingml/2006/main" w="9525">
            <a:solidFill>
              <a:srgbClr val="6A4CC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-96">
            <a:extLst xmlns:a="http://schemas.openxmlformats.org/drawingml/2006/main">
              <a:ext uri="{FF2B5EF4-FFF2-40B4-BE49-F238E27FC236}">
                <a16:creationId xmlns:a16="http://schemas.microsoft.com/office/drawing/2014/main" id="{CAAD039F-DBCB-47CF-9AF5-03180159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622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2" name="text-97">
            <a:extLst xmlns:a="http://schemas.openxmlformats.org/drawingml/2006/main">
              <a:ext uri="{FF2B5EF4-FFF2-40B4-BE49-F238E27FC236}">
                <a16:creationId xmlns:a16="http://schemas.microsoft.com/office/drawing/2014/main" id="{83547103-A104-4EEE-A287-ABD9E62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2420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截止前申请</a:t>
            </a:r>
          </a:p>
        </p:txBody>
      </p:sp>
      <p:sp>
        <p:nvSpPr>
          <p:cNvPr id="13" name="shape-98">
            <a:extLst xmlns:a="http://schemas.openxmlformats.org/drawingml/2006/main">
              <a:ext uri="{FF2B5EF4-FFF2-40B4-BE49-F238E27FC236}">
                <a16:creationId xmlns:a16="http://schemas.microsoft.com/office/drawing/2014/main" id="{C15EB287-E321-48B5-8CF4-F6927826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5D"/>
          </a:solidFill>
          <a:ln xmlns:a="http://schemas.openxmlformats.org/drawingml/2006/main" w="9525">
            <a:solidFill>
              <a:srgbClr val="17845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-99">
            <a:extLst xmlns:a="http://schemas.openxmlformats.org/drawingml/2006/main">
              <a:ext uri="{FF2B5EF4-FFF2-40B4-BE49-F238E27FC236}">
                <a16:creationId xmlns:a16="http://schemas.microsoft.com/office/drawing/2014/main" id="{0A5D60AC-8EF4-44B1-B32E-73106034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622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rPr>
              <a:t>组织者</a:t>
            </a:r>
          </a:p>
        </p:txBody>
      </p:sp>
      <p:sp>
        <p:nvSpPr>
          <p:cNvPr id="15" name="text-100">
            <a:extLst xmlns:a="http://schemas.openxmlformats.org/drawingml/2006/main">
              <a:ext uri="{FF2B5EF4-FFF2-40B4-BE49-F238E27FC236}">
                <a16:creationId xmlns:a16="http://schemas.microsoft.com/office/drawing/2014/main" id="{7D2333F8-B0A7-4DE4-A9F8-08A60F0D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2420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截止后揭示 seed</a:t>
            </a:r>
          </a:p>
        </p:txBody>
      </p:sp>
      <p:sp>
        <p:nvSpPr>
          <p:cNvPr id="16" name="shape-101">
            <a:extLst xmlns:a="http://schemas.openxmlformats.org/drawingml/2006/main">
              <a:ext uri="{FF2B5EF4-FFF2-40B4-BE49-F238E27FC236}">
                <a16:creationId xmlns:a16="http://schemas.microsoft.com/office/drawing/2014/main" id="{29DEBD4F-2F7B-44B8-8900-75E5B94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438"/>
          </a:solidFill>
          <a:ln xmlns:a="http://schemas.openxmlformats.org/drawingml/2006/main" w="9525">
            <a:solidFill>
              <a:srgbClr val="0C243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text-102">
            <a:extLst xmlns:a="http://schemas.openxmlformats.org/drawingml/2006/main">
              <a:ext uri="{FF2B5EF4-FFF2-40B4-BE49-F238E27FC236}">
                <a16:creationId xmlns:a16="http://schemas.microsoft.com/office/drawing/2014/main" id="{045D5AF8-9457-4C4C-B7D4-097CD3AF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622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链码</a:t>
            </a:r>
          </a:p>
        </p:txBody>
      </p:sp>
      <p:sp>
        <p:nvSpPr>
          <p:cNvPr id="18" name="text-103">
            <a:extLst xmlns:a="http://schemas.openxmlformats.org/drawingml/2006/main">
              <a:ext uri="{FF2B5EF4-FFF2-40B4-BE49-F238E27FC236}">
                <a16:creationId xmlns:a16="http://schemas.microsoft.com/office/drawing/2014/main" id="{FA0D3FCF-F205-4F0F-968A-FB39210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核对承诺并排序</a:t>
            </a:r>
          </a:p>
        </p:txBody>
      </p:sp>
      <p:sp>
        <p:nvSpPr>
          <p:cNvPr id="19" name="shape-104">
            <a:extLst xmlns:a="http://schemas.openxmlformats.org/drawingml/2006/main">
              <a:ext uri="{FF2B5EF4-FFF2-40B4-BE49-F238E27FC236}">
                <a16:creationId xmlns:a16="http://schemas.microsoft.com/office/drawing/2014/main" id="{F9FA523B-4644-4577-8259-33B8C929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4CC3"/>
          </a:solidFill>
          <a:ln xmlns:a="http://schemas.openxmlformats.org/drawingml/2006/main" w="9525">
            <a:solidFill>
              <a:srgbClr val="6A4CC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text-105">
            <a:extLst xmlns:a="http://schemas.openxmlformats.org/drawingml/2006/main">
              <a:ext uri="{FF2B5EF4-FFF2-40B4-BE49-F238E27FC236}">
                <a16:creationId xmlns:a16="http://schemas.microsoft.com/office/drawing/2014/main" id="{9E1FD796-7D7C-4394-B9B5-DCD7360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A4CC3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21" name="text-106">
            <a:extLst xmlns:a="http://schemas.openxmlformats.org/drawingml/2006/main">
              <a:ext uri="{FF2B5EF4-FFF2-40B4-BE49-F238E27FC236}">
                <a16:creationId xmlns:a16="http://schemas.microsoft.com/office/drawing/2014/main" id="{2557BFFA-2E3E-4C95-A044-DA887858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2420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私有读回 WON / LOST</a:t>
            </a:r>
          </a:p>
        </p:txBody>
      </p:sp>
      <p:cxnSp>
        <p:nvCxnSpPr>
          <p:cNvPr id="52" name=""/>
          <p:cNvCxnSpPr>
            <a:stCxn xmlns:a="http://schemas.openxmlformats.org/drawingml/2006/main" id="7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828800" y="224790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9A0B0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0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4114800" y="224790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9A0B0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3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6400800" y="224790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9A0B0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6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8686800" y="224790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9A0B0"/>
            </a:solidFill>
            <a:prstDash val="solid"/>
            <a:tailEnd type="triangle" w="sm" len="sm"/>
          </a:ln>
        </p:spPr>
      </p:cxnSp>
      <p:sp>
        <p:nvSpPr>
          <p:cNvPr id="26" name="shape-107">
            <a:extLst xmlns:a="http://schemas.openxmlformats.org/drawingml/2006/main">
              <a:ext uri="{FF2B5EF4-FFF2-40B4-BE49-F238E27FC236}">
                <a16:creationId xmlns:a16="http://schemas.microsoft.com/office/drawing/2014/main" id="{48906D79-ECAE-476F-9214-C54EAF8C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0058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27" name="text-108">
            <a:extLst xmlns:a="http://schemas.openxmlformats.org/drawingml/2006/main">
              <a:ext uri="{FF2B5EF4-FFF2-40B4-BE49-F238E27FC236}">
                <a16:creationId xmlns:a16="http://schemas.microsoft.com/office/drawing/2014/main" id="{57F19DAF-191A-42E0-A8E1-9CC5EC8C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scoreᵢ = SHA256(seed || activityId || accountIdᵢ)</a:t>
            </a:r>
          </a:p>
        </p:txBody>
      </p:sp>
      <p:sp>
        <p:nvSpPr>
          <p:cNvPr id="28" name="text-109">
            <a:extLst xmlns:a="http://schemas.openxmlformats.org/drawingml/2006/main">
              <a:ext uri="{FF2B5EF4-FFF2-40B4-BE49-F238E27FC236}">
                <a16:creationId xmlns:a16="http://schemas.microsoft.com/office/drawing/2014/main" id="{500E48E6-76A6-43B3-837F-ABD4890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148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链码按哈希排序取前 capacity 名，报名先后顺序不参与计算</a:t>
            </a:r>
          </a:p>
        </p:txBody>
      </p:sp>
      <p:sp>
        <p:nvSpPr>
          <p:cNvPr id="29" name="text-110">
            <a:extLst xmlns:a="http://schemas.openxmlformats.org/drawingml/2006/main">
              <a:ext uri="{FF2B5EF4-FFF2-40B4-BE49-F238E27FC236}">
                <a16:creationId xmlns:a16="http://schemas.microsoft.com/office/drawing/2014/main" id="{15C8EC62-917F-41FC-BF18-7F9416F3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3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D3C4A"/>
                </a:solidFill>
                <a:latin typeface="Microsoft YaHei"/>
                <a:ea typeface="Microsoft YaHei"/>
                <a:cs typeface="Microsoft YaHei"/>
              </a:rPr>
              <a:t>链码拒绝三类无效操作</a:t>
            </a:r>
          </a:p>
        </p:txBody>
      </p:sp>
      <p:sp>
        <p:nvSpPr>
          <p:cNvPr id="30" name="text-111">
            <a:extLst xmlns:a="http://schemas.openxmlformats.org/drawingml/2006/main">
              <a:ext uri="{FF2B5EF4-FFF2-40B4-BE49-F238E27FC236}">
                <a16:creationId xmlns:a16="http://schemas.microsoft.com/office/drawing/2014/main" id="{A2E16658-DC58-4184-BBCF-26C8D6B5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102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没有提前承诺     报名仍未截止     揭示原文与 H(seed) 不匹配</a:t>
            </a:r>
          </a:p>
        </p:txBody>
      </p:sp>
    </p:spTree>
    <p:extLst>
      <p:ext uri="{BB962C8B-B14F-4D97-AF65-F5344CB8AC3E}">
        <p14:creationId xmlns:p14="http://schemas.microsoft.com/office/powerpoint/2010/main" val="1281094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12">
            <a:extLst xmlns:a="http://schemas.openxmlformats.org/drawingml/2006/main">
              <a:ext uri="{FF2B5EF4-FFF2-40B4-BE49-F238E27FC236}">
                <a16:creationId xmlns:a16="http://schemas.microsoft.com/office/drawing/2014/main" id="{59742F73-ADF0-4AFD-80A9-59A19C6A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07 / 票务</a:t>
            </a:r>
          </a:p>
        </p:txBody>
      </p:sp>
      <p:sp>
        <p:nvSpPr>
          <p:cNvPr id="2" name="text-113">
            <a:extLst xmlns:a="http://schemas.openxmlformats.org/drawingml/2006/main">
              <a:ext uri="{FF2B5EF4-FFF2-40B4-BE49-F238E27FC236}">
                <a16:creationId xmlns:a16="http://schemas.microsoft.com/office/drawing/2014/main" id="{CE4F037E-04F7-4695-B5E4-65F9FAA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动态票据与幂等签到</a:t>
            </a:r>
          </a:p>
        </p:txBody>
      </p:sp>
      <p:sp>
        <p:nvSpPr>
          <p:cNvPr id="3" name="text-114">
            <a:extLst xmlns:a="http://schemas.openxmlformats.org/drawingml/2006/main">
              <a:ext uri="{FF2B5EF4-FFF2-40B4-BE49-F238E27FC236}">
                <a16:creationId xmlns:a16="http://schemas.microsoft.com/office/drawing/2014/main" id="{D9E8B547-DEAB-4765-8D5C-87098F3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二维码每 30 秒变化，一张票只能核销一次</a:t>
            </a:r>
          </a:p>
        </p:txBody>
      </p:sp>
      <p:sp>
        <p:nvSpPr>
          <p:cNvPr id="4" name="rule-115">
            <a:extLst xmlns:a="http://schemas.openxmlformats.org/drawingml/2006/main">
              <a:ext uri="{FF2B5EF4-FFF2-40B4-BE49-F238E27FC236}">
                <a16:creationId xmlns:a16="http://schemas.microsoft.com/office/drawing/2014/main" id="{BB781988-E53C-496C-8E43-0C34741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B3D43691-6782-43AB-BE1A-70E738C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EventChain  /  区块链技术与实践</a:t>
            </a:r>
          </a:p>
        </p:txBody>
      </p:sp>
      <p:sp>
        <p:nvSpPr>
          <p:cNvPr id="6" name="text-117">
            <a:extLst xmlns:a="http://schemas.openxmlformats.org/drawingml/2006/main">
              <a:ext uri="{FF2B5EF4-FFF2-40B4-BE49-F238E27FC236}">
                <a16:creationId xmlns:a16="http://schemas.microsoft.com/office/drawing/2014/main" id="{A8F2E096-4DD4-4127-8145-22624D45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text-118">
            <a:extLst xmlns:a="http://schemas.openxmlformats.org/drawingml/2006/main">
              <a:ext uri="{FF2B5EF4-FFF2-40B4-BE49-F238E27FC236}">
                <a16:creationId xmlns:a16="http://schemas.microsoft.com/office/drawing/2014/main" id="{4A1D7C4A-1E50-4BD4-963D-92D8111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学生票据</a:t>
            </a:r>
          </a:p>
        </p:txBody>
      </p:sp>
      <p:sp>
        <p:nvSpPr>
          <p:cNvPr id="8" name="text-119">
            <a:extLst xmlns:a="http://schemas.openxmlformats.org/drawingml/2006/main">
              <a:ext uri="{FF2B5EF4-FFF2-40B4-BE49-F238E27FC236}">
                <a16:creationId xmlns:a16="http://schemas.microsoft.com/office/drawing/2014/main" id="{C1BBA98F-3510-42F4-952D-0B50D74D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4782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rPr>
              <a:t>运营员核验</a:t>
            </a:r>
          </a:p>
        </p:txBody>
      </p:sp>
      <p:sp>
        <p:nvSpPr>
          <p:cNvPr id="9" name="shape-120">
            <a:extLst xmlns:a="http://schemas.openxmlformats.org/drawingml/2006/main">
              <a:ext uri="{FF2B5EF4-FFF2-40B4-BE49-F238E27FC236}">
                <a16:creationId xmlns:a16="http://schemas.microsoft.com/office/drawing/2014/main" id="{B8788D68-E8B8-4010-A0E3-55987DF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4667250" cy="27241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adf8448724170"/>
          <a:stretch xmlns:a="http://schemas.openxmlformats.org/drawingml/2006/main"/>
        </p:blipFill>
        <p:spPr>
          <a:xfrm xmlns:a="http://schemas.openxmlformats.org/drawingml/2006/main">
            <a:off x="1006052" y="2000250"/>
            <a:ext cx="3874347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11" name="shape-121">
            <a:extLst xmlns:a="http://schemas.openxmlformats.org/drawingml/2006/main">
              <a:ext uri="{FF2B5EF4-FFF2-40B4-BE49-F238E27FC236}">
                <a16:creationId xmlns:a16="http://schemas.microsoft.com/office/drawing/2014/main" id="{F1D7D914-C61D-4BE7-836E-8531F717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76450"/>
            <a:ext cx="4648200" cy="27241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3cd61a82542b9"/>
          <a:stretch xmlns:a="http://schemas.openxmlformats.org/drawingml/2006/main"/>
        </p:blipFill>
        <p:spPr>
          <a:xfrm xmlns:a="http://schemas.openxmlformats.org/drawingml/2006/main">
            <a:off x="7321127" y="2000250"/>
            <a:ext cx="3874347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13" name="shape-122">
            <a:extLst xmlns:a="http://schemas.openxmlformats.org/drawingml/2006/main">
              <a:ext uri="{FF2B5EF4-FFF2-40B4-BE49-F238E27FC236}">
                <a16:creationId xmlns:a16="http://schemas.microsoft.com/office/drawing/2014/main" id="{371A8178-301D-4C09-9962-72C8C539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33625"/>
            <a:ext cx="1390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9525">
            <a:solidFill>
              <a:srgbClr val="C8DCE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链上只存</a:t>
            </a:r>
          </a:p>
          <a:p xmlns:a="http://schemas.openxmlformats.org/drawingml/2006/main">
            <a:pPr algn="ctr">
              <a:defRPr sz="12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票据秘密哈希</a:t>
            </a:r>
          </a:p>
        </p:txBody>
      </p:sp>
      <p:sp>
        <p:nvSpPr>
          <p:cNvPr id="14" name="shape-123">
            <a:extLst xmlns:a="http://schemas.openxmlformats.org/drawingml/2006/main">
              <a:ext uri="{FF2B5EF4-FFF2-40B4-BE49-F238E27FC236}">
                <a16:creationId xmlns:a16="http://schemas.microsoft.com/office/drawing/2014/main" id="{0B8B9F26-7B6D-4CD0-8226-21ED2580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1390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81C9B0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94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rPr>
              <a:t>核验秘密、时间片</a:t>
            </a:r>
          </a:p>
          <a:p xmlns:a="http://schemas.openxmlformats.org/drawingml/2006/main">
            <a:pPr algn="ctr">
              <a:defRPr sz="1125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rPr>
              <a:t>票据状态、活动窗口</a:t>
            </a:r>
          </a:p>
        </p:txBody>
      </p:sp>
      <p:sp>
        <p:nvSpPr>
          <p:cNvPr id="15" name="shape-124">
            <a:extLst xmlns:a="http://schemas.openxmlformats.org/drawingml/2006/main">
              <a:ext uri="{FF2B5EF4-FFF2-40B4-BE49-F238E27FC236}">
                <a16:creationId xmlns:a16="http://schemas.microsoft.com/office/drawing/2014/main" id="{8393AF02-C9C9-4D58-9BFC-74FC19F1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16" name="text-125">
            <a:extLst xmlns:a="http://schemas.openxmlformats.org/drawingml/2006/main">
              <a:ext uri="{FF2B5EF4-FFF2-40B4-BE49-F238E27FC236}">
                <a16:creationId xmlns:a16="http://schemas.microsoft.com/office/drawing/2014/main" id="{6C7BDEC7-445E-406D-9C29-87D1C5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activity.CheckIn</a:t>
            </a:r>
          </a:p>
        </p:txBody>
      </p:sp>
      <p:sp>
        <p:nvSpPr>
          <p:cNvPr id="17" name="text-126">
            <a:extLst xmlns:a="http://schemas.openxmlformats.org/drawingml/2006/main">
              <a:ext uri="{FF2B5EF4-FFF2-40B4-BE49-F238E27FC236}">
                <a16:creationId xmlns:a16="http://schemas.microsoft.com/office/drawing/2014/main" id="{A62D2E9A-92D4-485F-95D9-FA639274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先确认一次性核销</a:t>
            </a:r>
          </a:p>
        </p:txBody>
      </p:sp>
      <p:sp>
        <p:nvSpPr>
          <p:cNvPr id="18" name="text-127">
            <a:extLst xmlns:a="http://schemas.openxmlformats.org/drawingml/2006/main">
              <a:ext uri="{FF2B5EF4-FFF2-40B4-BE49-F238E27FC236}">
                <a16:creationId xmlns:a16="http://schemas.microsoft.com/office/drawing/2014/main" id="{3FDBA1CF-9B19-4EB7-9035-AEC2FB23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45D"/>
                </a:solidFill>
                <a:latin typeface="Microsoft YaHei"/>
                <a:ea typeface="Microsoft YaHei"/>
                <a:cs typeface="Microsoft YaHei"/>
              </a:rPr>
              <a:t>finance.GrantCheckInBonus</a:t>
            </a:r>
          </a:p>
        </p:txBody>
      </p:sp>
      <p:sp>
        <p:nvSpPr>
          <p:cNvPr id="19" name="text-128">
            <a:extLst xmlns:a="http://schemas.openxmlformats.org/drawingml/2006/main">
              <a:ext uri="{FF2B5EF4-FFF2-40B4-BE49-F238E27FC236}">
                <a16:creationId xmlns:a16="http://schemas.microsoft.com/office/drawing/2014/main" id="{19DCE737-2D53-491A-9FC0-5855BEB4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340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随后发放同分类 B_bonus</a:t>
            </a:r>
          </a:p>
        </p:txBody>
      </p:sp>
      <p:sp>
        <p:nvSpPr>
          <p:cNvPr id="20" name="text-129">
            <a:extLst xmlns:a="http://schemas.openxmlformats.org/drawingml/2006/main">
              <a:ext uri="{FF2B5EF4-FFF2-40B4-BE49-F238E27FC236}">
                <a16:creationId xmlns:a16="http://schemas.microsoft.com/office/drawing/2014/main" id="{188DFE7B-3F18-4085-89CE-D024B171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3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3C4A"/>
                </a:solidFill>
                <a:latin typeface="Microsoft YaHei"/>
                <a:ea typeface="Microsoft YaHei"/>
                <a:cs typeface="Microsoft YaHei"/>
              </a:rPr>
              <a:t>第二步失败时返回“奖励待补发”</a:t>
            </a:r>
          </a:p>
          <a:p xmlns:a="http://schemas.openxmlformats.org/drawingml/2006/main">
            <a:pPr algn="r">
              <a:defRPr sz="1350" b="1">
                <a:solidFill>
                  <a:srgbClr val="BD3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3C4A"/>
                </a:solidFill>
                <a:latin typeface="Microsoft YaHei"/>
                <a:ea typeface="Microsoft YaHei"/>
                <a:cs typeface="Microsoft YaHei"/>
              </a:rPr>
              <a:t>系统不会重复核销票据</a:t>
            </a:r>
          </a:p>
        </p:txBody>
      </p:sp>
    </p:spTree>
    <p:extLst>
      <p:ext uri="{BB962C8B-B14F-4D97-AF65-F5344CB8AC3E}">
        <p14:creationId xmlns:p14="http://schemas.microsoft.com/office/powerpoint/2010/main" val="646456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0">
            <a:extLst xmlns:a="http://schemas.openxmlformats.org/drawingml/2006/main">
              <a:ext uri="{FF2B5EF4-FFF2-40B4-BE49-F238E27FC236}">
                <a16:creationId xmlns:a16="http://schemas.microsoft.com/office/drawing/2014/main" id="{13DC3B4C-004F-4793-8B31-5E00534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08 / 权限</a:t>
            </a:r>
          </a:p>
        </p:txBody>
      </p:sp>
      <p:sp>
        <p:nvSpPr>
          <p:cNvPr id="2" name="text-131">
            <a:extLst xmlns:a="http://schemas.openxmlformats.org/drawingml/2006/main">
              <a:ext uri="{FF2B5EF4-FFF2-40B4-BE49-F238E27FC236}">
                <a16:creationId xmlns:a16="http://schemas.microsoft.com/office/drawing/2014/main" id="{093034EE-5FA9-4007-B171-5099F702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角色分离落实到接口和链码</a:t>
            </a:r>
          </a:p>
        </p:txBody>
      </p:sp>
      <p:sp>
        <p:nvSpPr>
          <p:cNvPr id="3" name="text-132">
            <a:extLst xmlns:a="http://schemas.openxmlformats.org/drawingml/2006/main">
              <a:ext uri="{FF2B5EF4-FFF2-40B4-BE49-F238E27FC236}">
                <a16:creationId xmlns:a16="http://schemas.microsoft.com/office/drawing/2014/main" id="{02F403DD-6F3D-4FF6-85F5-8BB7FDCF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前端隐藏按钮只负责提示，链码证书属性才是最终边界</a:t>
            </a:r>
          </a:p>
        </p:txBody>
      </p:sp>
      <p:sp>
        <p:nvSpPr>
          <p:cNvPr id="4" name="rule-133">
            <a:extLst xmlns:a="http://schemas.openxmlformats.org/drawingml/2006/main">
              <a:ext uri="{FF2B5EF4-FFF2-40B4-BE49-F238E27FC236}">
                <a16:creationId xmlns:a16="http://schemas.microsoft.com/office/drawing/2014/main" id="{7AE1230B-F32A-4174-BD2F-E8B0572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5" name="text-134">
            <a:extLst xmlns:a="http://schemas.openxmlformats.org/drawingml/2006/main">
              <a:ext uri="{FF2B5EF4-FFF2-40B4-BE49-F238E27FC236}">
                <a16:creationId xmlns:a16="http://schemas.microsoft.com/office/drawing/2014/main" id="{CA62E405-0AB6-4160-88A2-504F4499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EventChain  /  区块链技术与实践</a:t>
            </a:r>
          </a:p>
        </p:txBody>
      </p:sp>
      <p:sp>
        <p:nvSpPr>
          <p:cNvPr id="6" name="text-135">
            <a:extLst xmlns:a="http://schemas.openxmlformats.org/drawingml/2006/main">
              <a:ext uri="{FF2B5EF4-FFF2-40B4-BE49-F238E27FC236}">
                <a16:creationId xmlns:a16="http://schemas.microsoft.com/office/drawing/2014/main" id="{57383B43-DF2B-4875-B8C1-6DC5E513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248150"/>
                <a:gridCol w="2247900"/>
                <a:gridCol w="2952750"/>
              </a:tblGrid>
              <a:tr h="5143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0C243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主要动作</a:t>
                      </a:r>
                    </a:p>
                  </a:txBody>
                  <a:tcPr marL="91440" marR="91440" marT="45720" marB="45720" anchor="ctr">
                    <a:solidFill>
                      <a:srgbClr val="0C243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后端角色</a:t>
                      </a:r>
                    </a:p>
                  </a:txBody>
                  <a:tcPr marL="91440" marR="91440" marT="45720" marB="45720" anchor="ctr">
                    <a:solidFill>
                      <a:srgbClr val="0C243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Fabric 身份</a:t>
                      </a:r>
                    </a:p>
                  </a:txBody>
                  <a:tcPr marL="91440" marR="91440" marT="45720" marB="45720" anchor="ctr">
                    <a:solidFill>
                      <a:srgbClr val="0C2438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475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兑换、建仓、报名、领票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student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StudentMSP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475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组织者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创建市场与活动、揭示抽签、提交结果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organizer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OrganizerMSP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475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承诺种子、二次确认市场结果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PlatformMSP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475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运营员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临时结算、Claim 批处理、签到核验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operator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PlatformMSP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475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仲裁员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对争议结果独立投票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arbitrator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PlatformMSP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136">
            <a:extLst xmlns:a="http://schemas.openxmlformats.org/drawingml/2006/main">
              <a:ext uri="{FF2B5EF4-FFF2-40B4-BE49-F238E27FC236}">
                <a16:creationId xmlns:a16="http://schemas.microsoft.com/office/drawing/2014/main" id="{4B437A8E-DAEC-4D94-A4AE-4AEC10FE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三层校验：Vue 导航提示  +  Express 角色中间件  +  链码读取证书属性</a:t>
            </a:r>
          </a:p>
        </p:txBody>
      </p:sp>
    </p:spTree>
    <p:extLst>
      <p:ext uri="{BB962C8B-B14F-4D97-AF65-F5344CB8AC3E}">
        <p14:creationId xmlns:p14="http://schemas.microsoft.com/office/powerpoint/2010/main" val="1956745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7">
            <a:extLst xmlns:a="http://schemas.openxmlformats.org/drawingml/2006/main">
              <a:ext uri="{FF2B5EF4-FFF2-40B4-BE49-F238E27FC236}">
                <a16:creationId xmlns:a16="http://schemas.microsoft.com/office/drawing/2014/main" id="{3C07BD86-D71A-4AE7-965F-6C573101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09 / 验证</a:t>
            </a:r>
          </a:p>
        </p:txBody>
      </p:sp>
      <p:sp>
        <p:nvSpPr>
          <p:cNvPr id="2" name="text-138">
            <a:extLst xmlns:a="http://schemas.openxmlformats.org/drawingml/2006/main">
              <a:ext uri="{FF2B5EF4-FFF2-40B4-BE49-F238E27FC236}">
                <a16:creationId xmlns:a16="http://schemas.microsoft.com/office/drawing/2014/main" id="{93809AAC-2C3F-431F-86D5-F4B471DA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测试覆盖关键状态变化与重复请求</a:t>
            </a:r>
          </a:p>
        </p:txBody>
      </p:sp>
      <p:sp>
        <p:nvSpPr>
          <p:cNvPr id="3" name="text-139">
            <a:extLst xmlns:a="http://schemas.openxmlformats.org/drawingml/2006/main">
              <a:ext uri="{FF2B5EF4-FFF2-40B4-BE49-F238E27FC236}">
                <a16:creationId xmlns:a16="http://schemas.microsoft.com/office/drawing/2014/main" id="{B709F205-59E5-4DD0-9F4E-B2239A95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证据包括接口测试、浏览器流程、链码单元测试和真实演示读回</a:t>
            </a:r>
          </a:p>
        </p:txBody>
      </p:sp>
      <p:sp>
        <p:nvSpPr>
          <p:cNvPr id="4" name="rule-140">
            <a:extLst xmlns:a="http://schemas.openxmlformats.org/drawingml/2006/main">
              <a:ext uri="{FF2B5EF4-FFF2-40B4-BE49-F238E27FC236}">
                <a16:creationId xmlns:a16="http://schemas.microsoft.com/office/drawing/2014/main" id="{51C2BEB3-8689-4673-A262-B11CFE6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CEA"/>
            </a:solidFill>
            <a:prstDash val="solid"/>
          </a:ln>
        </p:spPr>
      </p:sp>
      <p:sp>
        <p:nvSpPr>
          <p:cNvPr id="5" name="text-141">
            <a:extLst xmlns:a="http://schemas.openxmlformats.org/drawingml/2006/main">
              <a:ext uri="{FF2B5EF4-FFF2-40B4-BE49-F238E27FC236}">
                <a16:creationId xmlns:a16="http://schemas.microsoft.com/office/drawing/2014/main" id="{1CC42D0A-5366-4681-843C-01EE6A34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EventChain  /  区块链技术与实践</a:t>
            </a:r>
          </a:p>
        </p:txBody>
      </p:sp>
      <p:sp>
        <p:nvSpPr>
          <p:cNvPr id="6" name="text-142">
            <a:extLst xmlns:a="http://schemas.openxmlformats.org/drawingml/2006/main">
              <a:ext uri="{FF2B5EF4-FFF2-40B4-BE49-F238E27FC236}">
                <a16:creationId xmlns:a16="http://schemas.microsoft.com/office/drawing/2014/main" id="{497934ED-11CE-4D56-B394-3C1BAB00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A0B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7" name="text-143">
            <a:extLst xmlns:a="http://schemas.openxmlformats.org/drawingml/2006/main">
              <a:ext uri="{FF2B5EF4-FFF2-40B4-BE49-F238E27FC236}">
                <a16:creationId xmlns:a16="http://schemas.microsoft.com/office/drawing/2014/main" id="{927F4BC4-D9A6-4353-99D8-7AC33488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text-144">
            <a:extLst xmlns:a="http://schemas.openxmlformats.org/drawingml/2006/main">
              <a:ext uri="{FF2B5EF4-FFF2-40B4-BE49-F238E27FC236}">
                <a16:creationId xmlns:a16="http://schemas.microsoft.com/office/drawing/2014/main" id="{B27EB627-4405-4B65-B7D1-8EB48EEA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后端接口测试</a:t>
            </a:r>
          </a:p>
        </p:txBody>
      </p:sp>
      <p:sp>
        <p:nvSpPr>
          <p:cNvPr id="9" name="text-145">
            <a:extLst xmlns:a="http://schemas.openxmlformats.org/drawingml/2006/main">
              <a:ext uri="{FF2B5EF4-FFF2-40B4-BE49-F238E27FC236}">
                <a16:creationId xmlns:a16="http://schemas.microsoft.com/office/drawing/2014/main" id="{BBDE9A54-3DBA-403A-80F1-CFDBA671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鉴权、错误格式、安全响应头</a:t>
            </a:r>
          </a:p>
        </p:txBody>
      </p:sp>
      <p:sp>
        <p:nvSpPr>
          <p:cNvPr id="10" name="shape-146">
            <a:extLst xmlns:a="http://schemas.openxmlformats.org/drawingml/2006/main">
              <a:ext uri="{FF2B5EF4-FFF2-40B4-BE49-F238E27FC236}">
                <a16:creationId xmlns:a16="http://schemas.microsoft.com/office/drawing/2014/main" id="{9CF2766F-11C0-453A-89E0-2C1F3959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71675"/>
            <a:ext cx="95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47">
            <a:extLst xmlns:a="http://schemas.openxmlformats.org/drawingml/2006/main">
              <a:ext uri="{FF2B5EF4-FFF2-40B4-BE49-F238E27FC236}">
                <a16:creationId xmlns:a16="http://schemas.microsoft.com/office/drawing/2014/main" id="{0820DCC3-57DF-493A-962A-9767FA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-148">
            <a:extLst xmlns:a="http://schemas.openxmlformats.org/drawingml/2006/main">
              <a:ext uri="{FF2B5EF4-FFF2-40B4-BE49-F238E27FC236}">
                <a16:creationId xmlns:a16="http://schemas.microsoft.com/office/drawing/2014/main" id="{4DFBD21D-EEAA-4D02-B155-5500F9D0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浏览器全流程</a:t>
            </a:r>
          </a:p>
        </p:txBody>
      </p:sp>
      <p:sp>
        <p:nvSpPr>
          <p:cNvPr id="13" name="text-149">
            <a:extLst xmlns:a="http://schemas.openxmlformats.org/drawingml/2006/main">
              <a:ext uri="{FF2B5EF4-FFF2-40B4-BE49-F238E27FC236}">
                <a16:creationId xmlns:a16="http://schemas.microsoft.com/office/drawing/2014/main" id="{A1AD08F8-7894-4DE2-9E2C-360C0A58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146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学生操作到运营员签到</a:t>
            </a:r>
          </a:p>
        </p:txBody>
      </p:sp>
      <p:sp>
        <p:nvSpPr>
          <p:cNvPr id="14" name="shape-150">
            <a:extLst xmlns:a="http://schemas.openxmlformats.org/drawingml/2006/main">
              <a:ext uri="{FF2B5EF4-FFF2-40B4-BE49-F238E27FC236}">
                <a16:creationId xmlns:a16="http://schemas.microsoft.com/office/drawing/2014/main" id="{4BB522DB-0030-43D3-BDE7-97288DD5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71675"/>
            <a:ext cx="95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51">
            <a:extLst xmlns:a="http://schemas.openxmlformats.org/drawingml/2006/main">
              <a:ext uri="{FF2B5EF4-FFF2-40B4-BE49-F238E27FC236}">
                <a16:creationId xmlns:a16="http://schemas.microsoft.com/office/drawing/2014/main" id="{DCBDA5DC-D00C-4978-A18C-630040D5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6" name="text-152">
            <a:extLst xmlns:a="http://schemas.openxmlformats.org/drawingml/2006/main">
              <a:ext uri="{FF2B5EF4-FFF2-40B4-BE49-F238E27FC236}">
                <a16:creationId xmlns:a16="http://schemas.microsoft.com/office/drawing/2014/main" id="{675093B4-CBB3-4C3F-B5F6-35DF8DFA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V2 链码测试</a:t>
            </a:r>
          </a:p>
        </p:txBody>
      </p:sp>
      <p:sp>
        <p:nvSpPr>
          <p:cNvPr id="17" name="text-153">
            <a:extLst xmlns:a="http://schemas.openxmlformats.org/drawingml/2006/main">
              <a:ext uri="{FF2B5EF4-FFF2-40B4-BE49-F238E27FC236}">
                <a16:creationId xmlns:a16="http://schemas.microsoft.com/office/drawing/2014/main" id="{FEFB39BF-141B-4DBD-B73E-75E03EDB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finance 4 组，activity 2 组</a:t>
            </a:r>
          </a:p>
        </p:txBody>
      </p:sp>
      <p:sp>
        <p:nvSpPr>
          <p:cNvPr id="18" name="shape-154">
            <a:extLst xmlns:a="http://schemas.openxmlformats.org/drawingml/2006/main">
              <a:ext uri="{FF2B5EF4-FFF2-40B4-BE49-F238E27FC236}">
                <a16:creationId xmlns:a16="http://schemas.microsoft.com/office/drawing/2014/main" id="{52BD090B-65F4-4A17-95D8-178B1D5F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95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55">
            <a:extLst xmlns:a="http://schemas.openxmlformats.org/drawingml/2006/main">
              <a:ext uri="{FF2B5EF4-FFF2-40B4-BE49-F238E27FC236}">
                <a16:creationId xmlns:a16="http://schemas.microsoft.com/office/drawing/2014/main" id="{48F8EA39-E837-4655-9F0D-40235E20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text-156">
            <a:extLst xmlns:a="http://schemas.openxmlformats.org/drawingml/2006/main">
              <a:ext uri="{FF2B5EF4-FFF2-40B4-BE49-F238E27FC236}">
                <a16:creationId xmlns:a16="http://schemas.microsoft.com/office/drawing/2014/main" id="{FD4BE22A-3A65-47ED-AE53-D262AB9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2438"/>
                </a:solidFill>
                <a:latin typeface="Microsoft YaHei"/>
                <a:ea typeface="Microsoft YaHei"/>
                <a:cs typeface="Microsoft YaHei"/>
              </a:rPr>
              <a:t>生产构建</a:t>
            </a:r>
          </a:p>
        </p:txBody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A7F5834C-C723-49DD-B027-CDB1C7DF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146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84"/>
                </a:solidFill>
                <a:latin typeface="Microsoft YaHei"/>
                <a:ea typeface="Microsoft YaHei"/>
                <a:cs typeface="Microsoft YaHei"/>
              </a:rPr>
              <a:t>Vite build 通过</a:t>
            </a:r>
          </a:p>
        </p:txBody>
      </p:sp>
      <p:sp>
        <p:nvSpPr>
          <p:cNvPr id="22" name="rule-158">
            <a:extLst xmlns:a="http://schemas.openxmlformats.org/drawingml/2006/main">
              <a:ext uri="{FF2B5EF4-FFF2-40B4-BE49-F238E27FC236}">
                <a16:creationId xmlns:a16="http://schemas.microsoft.com/office/drawing/2014/main" id="{7AC6E2D2-9EC6-4547-A0A1-742C660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D1"/>
            </a:solidFill>
            <a:prstDash val="solid"/>
          </a:ln>
        </p:spPr>
      </p:sp>
      <p:sp>
        <p:nvSpPr>
          <p:cNvPr id="23" name="text-159">
            <a:extLst xmlns:a="http://schemas.openxmlformats.org/drawingml/2006/main">
              <a:ext uri="{FF2B5EF4-FFF2-40B4-BE49-F238E27FC236}">
                <a16:creationId xmlns:a16="http://schemas.microsoft.com/office/drawing/2014/main" id="{89B945B5-B1F2-4DF8-A732-5840566B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幂等性</a:t>
            </a:r>
          </a:p>
        </p:txBody>
      </p:sp>
      <p:sp>
        <p:nvSpPr>
          <p:cNvPr id="24" name="text-160">
            <a:extLst xmlns:a="http://schemas.openxmlformats.org/drawingml/2006/main">
              <a:ext uri="{FF2B5EF4-FFF2-40B4-BE49-F238E27FC236}">
                <a16:creationId xmlns:a16="http://schemas.microsoft.com/office/drawing/2014/main" id="{B37A5040-9EFD-486D-B984-B703A973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4815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同一请求键重放，不重复扣款或发奖</a:t>
            </a:r>
          </a:p>
        </p:txBody>
      </p:sp>
      <p:sp>
        <p:nvSpPr>
          <p:cNvPr id="25" name="text-161">
            <a:extLst xmlns:a="http://schemas.openxmlformats.org/drawingml/2006/main">
              <a:ext uri="{FF2B5EF4-FFF2-40B4-BE49-F238E27FC236}">
                <a16:creationId xmlns:a16="http://schemas.microsoft.com/office/drawing/2014/main" id="{7C2D29F7-7EB2-475D-878D-EEAEC164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状态一致性</a:t>
            </a:r>
          </a:p>
        </p:txBody>
      </p:sp>
      <p:sp>
        <p:nvSpPr>
          <p:cNvPr id="26" name="text-162">
            <a:extLst xmlns:a="http://schemas.openxmlformats.org/drawingml/2006/main">
              <a:ext uri="{FF2B5EF4-FFF2-40B4-BE49-F238E27FC236}">
                <a16:creationId xmlns:a16="http://schemas.microsoft.com/office/drawing/2014/main" id="{9610C914-991B-4C3F-82C4-DBF27EFA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4815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截止时间与链上状态分开解释，不误报开放</a:t>
            </a:r>
          </a:p>
        </p:txBody>
      </p:sp>
      <p:sp>
        <p:nvSpPr>
          <p:cNvPr id="27" name="text-163">
            <a:extLst xmlns:a="http://schemas.openxmlformats.org/drawingml/2006/main">
              <a:ext uri="{FF2B5EF4-FFF2-40B4-BE49-F238E27FC236}">
                <a16:creationId xmlns:a16="http://schemas.microsoft.com/office/drawing/2014/main" id="{745180B9-9167-46B7-B586-C398CD43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启动恢复</a:t>
            </a:r>
          </a:p>
        </p:txBody>
      </p:sp>
      <p:sp>
        <p:nvSpPr>
          <p:cNvPr id="28" name="text-164">
            <a:extLst xmlns:a="http://schemas.openxmlformats.org/drawingml/2006/main">
              <a:ext uri="{FF2B5EF4-FFF2-40B4-BE49-F238E27FC236}">
                <a16:creationId xmlns:a16="http://schemas.microsoft.com/office/drawing/2014/main" id="{3AF930E8-2E15-4450-A961-5D5C0C0B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4825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network.sh up 可复用现有身份材料</a:t>
            </a:r>
          </a:p>
        </p:txBody>
      </p:sp>
      <p:sp>
        <p:nvSpPr>
          <p:cNvPr id="29" name="text-165">
            <a:extLst xmlns:a="http://schemas.openxmlformats.org/drawingml/2006/main">
              <a:ext uri="{FF2B5EF4-FFF2-40B4-BE49-F238E27FC236}">
                <a16:creationId xmlns:a16="http://schemas.microsoft.com/office/drawing/2014/main" id="{A05CED69-A43E-4416-94D6-AEB15A7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75A8"/>
                </a:solidFill>
                <a:latin typeface="Microsoft YaHei"/>
                <a:ea typeface="Microsoft YaHei"/>
                <a:cs typeface="Microsoft YaHei"/>
              </a:rPr>
              <a:t>响应式</a:t>
            </a:r>
          </a:p>
        </p:txBody>
      </p:sp>
      <p:sp>
        <p:nvSpPr>
          <p:cNvPr id="30" name="text-166">
            <a:extLst xmlns:a="http://schemas.openxmlformats.org/drawingml/2006/main">
              <a:ext uri="{FF2B5EF4-FFF2-40B4-BE49-F238E27FC236}">
                <a16:creationId xmlns:a16="http://schemas.microsoft.com/office/drawing/2014/main" id="{B95818F2-9D58-4C30-914E-02AF001E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4825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桌面、700 px 与 390 px 页面均完成复查</a:t>
            </a:r>
          </a:p>
        </p:txBody>
      </p:sp>
    </p:spTree>
    <p:extLst>
      <p:ext uri="{BB962C8B-B14F-4D97-AF65-F5344CB8AC3E}">
        <p14:creationId xmlns:p14="http://schemas.microsoft.com/office/powerpoint/2010/main" val="18553818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67">
            <a:extLst xmlns:a="http://schemas.openxmlformats.org/drawingml/2006/main">
              <a:ext uri="{FF2B5EF4-FFF2-40B4-BE49-F238E27FC236}">
                <a16:creationId xmlns:a16="http://schemas.microsoft.com/office/drawing/2014/main" id="{5CFD04BE-9BA5-4A9A-82F7-BE9BC194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D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DC8E8"/>
                </a:solidFill>
                <a:latin typeface="Microsoft YaHei"/>
                <a:ea typeface="Microsoft YaHei"/>
                <a:cs typeface="Microsoft YaHei"/>
              </a:rPr>
              <a:t>10 / 结论</a:t>
            </a:r>
          </a:p>
        </p:txBody>
      </p:sp>
      <p:sp>
        <p:nvSpPr>
          <p:cNvPr id="2" name="text-168">
            <a:extLst xmlns:a="http://schemas.openxmlformats.org/drawingml/2006/main">
              <a:ext uri="{FF2B5EF4-FFF2-40B4-BE49-F238E27FC236}">
                <a16:creationId xmlns:a16="http://schemas.microsoft.com/office/drawing/2014/main" id="{01D86052-5FFF-4133-9F10-C72554F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能力边界与结论</a:t>
            </a:r>
          </a:p>
        </p:txBody>
      </p:sp>
      <p:sp>
        <p:nvSpPr>
          <p:cNvPr id="3" name="text-169">
            <a:extLst xmlns:a="http://schemas.openxmlformats.org/drawingml/2006/main">
              <a:ext uri="{FF2B5EF4-FFF2-40B4-BE49-F238E27FC236}">
                <a16:creationId xmlns:a16="http://schemas.microsoft.com/office/drawing/2014/main" id="{A3A05CAA-E7F9-4958-8D10-DD49050F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FD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FD5B6"/>
                </a:solidFill>
                <a:latin typeface="Microsoft YaHei"/>
                <a:ea typeface="Microsoft YaHei"/>
                <a:cs typeface="Microsoft YaHei"/>
              </a:rPr>
              <a:t>能保证</a:t>
            </a:r>
          </a:p>
        </p:txBody>
      </p:sp>
      <p:sp>
        <p:nvSpPr>
          <p:cNvPr id="4" name="text-170">
            <a:extLst xmlns:a="http://schemas.openxmlformats.org/drawingml/2006/main">
              <a:ext uri="{FF2B5EF4-FFF2-40B4-BE49-F238E27FC236}">
                <a16:creationId xmlns:a16="http://schemas.microsoft.com/office/drawing/2014/main" id="{97DBB36D-E296-41CE-BFEF-05E5DB7D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组织身份和操作权限可验证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承诺、结果与状态变化可读回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私有数据只分发给授权组织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幂等键阻止重复业务效果</a:t>
            </a:r>
          </a:p>
        </p:txBody>
      </p:sp>
      <p:sp>
        <p:nvSpPr>
          <p:cNvPr id="5" name="shape-171">
            <a:extLst xmlns:a="http://schemas.openxmlformats.org/drawingml/2006/main">
              <a:ext uri="{FF2B5EF4-FFF2-40B4-BE49-F238E27FC236}">
                <a16:creationId xmlns:a16="http://schemas.microsoft.com/office/drawing/2014/main" id="{06491864-1A16-4D47-BF77-6431DAC0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952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2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72">
            <a:extLst xmlns:a="http://schemas.openxmlformats.org/drawingml/2006/main">
              <a:ext uri="{FF2B5EF4-FFF2-40B4-BE49-F238E27FC236}">
                <a16:creationId xmlns:a16="http://schemas.microsoft.com/office/drawing/2014/main" id="{B82C4E65-348A-4A9F-BDB8-200BB2BF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383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4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B4BC"/>
                </a:solidFill>
                <a:latin typeface="Microsoft YaHei"/>
                <a:ea typeface="Microsoft YaHei"/>
                <a:cs typeface="Microsoft YaHei"/>
              </a:rPr>
              <a:t>不能保证</a:t>
            </a:r>
          </a:p>
        </p:txBody>
      </p:sp>
      <p:sp>
        <p:nvSpPr>
          <p:cNvPr id="7" name="text-173">
            <a:extLst xmlns:a="http://schemas.openxmlformats.org/drawingml/2006/main">
              <a:ext uri="{FF2B5EF4-FFF2-40B4-BE49-F238E27FC236}">
                <a16:creationId xmlns:a16="http://schemas.microsoft.com/office/drawing/2014/main" id="{4E876C5C-48FA-4F81-8149-B42A1802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组织级隐私不等于零知识匿名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承诺揭示仍依赖种子生成治理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跨链码签到与发奖不是原子事务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 Demo 不能直接当生产系统</a:t>
            </a:r>
          </a:p>
        </p:txBody>
      </p:sp>
      <p:sp>
        <p:nvSpPr>
          <p:cNvPr id="8" name="shape-174">
            <a:extLst xmlns:a="http://schemas.openxmlformats.org/drawingml/2006/main">
              <a:ext uri="{FF2B5EF4-FFF2-40B4-BE49-F238E27FC236}">
                <a16:creationId xmlns:a16="http://schemas.microsoft.com/office/drawing/2014/main" id="{BBDEBDCE-CAF6-4CA4-8C19-B3085A9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475A8"/>
          </a:solidFill>
          <a:ln xmlns:a="http://schemas.openxmlformats.org/drawingml/2006/main" w="9525">
            <a:solidFill>
              <a:srgbClr val="2475A8"/>
            </a:solidFill>
            <a:prstDash val="solid"/>
          </a:ln>
        </p:spPr>
      </p:sp>
      <p:sp>
        <p:nvSpPr>
          <p:cNvPr id="9" name="text-175">
            <a:extLst xmlns:a="http://schemas.openxmlformats.org/drawingml/2006/main">
              <a:ext uri="{FF2B5EF4-FFF2-40B4-BE49-F238E27FC236}">
                <a16:creationId xmlns:a16="http://schemas.microsoft.com/office/drawing/2014/main" id="{DA68E9EE-2F48-4CAC-839A-340FC13A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67275"/>
            <a:ext cx="1036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EventChain 把多方需要共同确认的校园参与状态交给 Fabric，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把个人仓位、申请和票据留在组织级私有数据集合。</a:t>
            </a:r>
          </a:p>
        </p:txBody>
      </p:sp>
      <p:sp>
        <p:nvSpPr>
          <p:cNvPr id="10" name="text-176">
            <a:extLst xmlns:a="http://schemas.openxmlformats.org/drawingml/2006/main">
              <a:ext uri="{FF2B5EF4-FFF2-40B4-BE49-F238E27FC236}">
                <a16:creationId xmlns:a16="http://schemas.microsoft.com/office/drawing/2014/main" id="{2AE9CBA2-8917-4757-A76E-0DDED936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8D2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D2E4"/>
                </a:solidFill>
                <a:latin typeface="Microsoft YaHei"/>
                <a:ea typeface="Microsoft YaHei"/>
                <a:cs typeface="Microsoft YaHei"/>
              </a:rPr>
              <a:t>如果业务始终只有一个可信管理方，普通数据库仍然是更合适的选择。</a:t>
            </a:r>
          </a:p>
        </p:txBody>
      </p:sp>
    </p:spTree>
    <p:extLst>
      <p:ext uri="{BB962C8B-B14F-4D97-AF65-F5344CB8AC3E}">
        <p14:creationId xmlns:p14="http://schemas.microsoft.com/office/powerpoint/2010/main" val="548251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2026-09-11T10:33:51.2090000Z</dcterms:created>
  <dcterms:modified xsi:type="dcterms:W3CDTF">2026-09-11T10:33:51.2090000Z</dcterms:modified>
</coreProperties>
</file>